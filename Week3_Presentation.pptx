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Last week we built our model and found a fairness problem. This week was about going deeper — understanding WHY the model decides what it decides, and then testing it. Goals: analyze the model, use explainable AI, write automated tests, and hit at least 80% coverage.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heart of this week is explainability. SHAP shows globally what the model cares about — top drivers are all financial: checking-account status, duration, savings, credit amount. That's exactly what a loan officer looks at. But Age and Sex do have a small influence, which is why we audit.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second way is local — why did the model decide one specific case? This chart explains a single applicant: which features pushed risk up, which pushed it down. That matters legally — GDPR gives a right to explanation. We wrapped this into a small app that gives a score, recommendation and explanation live, plus a fairness warning.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Last week we found the model fails the fairness test for age — young applicants wrongly denied 55% of the time. This week we fixed it. Group-specific thresholds brought the age fairness ratio from 0.56 to 0.86 — now passing — and roughly halved those wrongful denials to 25%. We'd already done the same for sex, 0.83 to 0.98, essentially for free.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Here's the honest part. When we applied that same fix to foreign-worker status, it backfired. Fairness improved on paper, but overall recall collapsed from 70% to 50% — because foreign workers are 96% of applicants, so tightening the rule makes the model miss half of all bad loans. The lesson: fairness mitigation is not always free. When the disadvantaged group is a tiny minority, a naive fix trades away the model's whole purpose, so we treat it as a policy decision. Knowing when NOT to auto-fix is the real responsible-AI skill.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Testing: 38 automated tests at about 99% coverage, set to fail below 80. The point isn't the number — the tests catch real weaknesses, like an invariant that shrinking a loan can never lower approval odds. And we went further: because this is a high-risk system, we attacked our own model and found about half of rejected applicants could game their way to approval by halving their loan.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sum up: this week we didn't just build a model — we understood it with SHAP, tested it thoroughly, and even attacked it to find weaknesses. That's the difference between a model and a responsible, deployable system. Next week is documentation, the management pitch, and extending the fairness fix. Thank you — happy to take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2011680"/>
            <a:ext cx="5943600" cy="5943600"/>
          </a:xfrm>
          <a:prstGeom prst="ellipse">
            <a:avLst/>
          </a:prstGeom>
          <a:solidFill>
            <a:srgbClr val="141A45"/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4023360"/>
            <a:ext cx="3840480" cy="3840480"/>
          </a:xfrm>
          <a:prstGeom prst="ellipse">
            <a:avLst/>
          </a:prstGeom>
          <a:solidFill>
            <a:srgbClr val="26306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 ·  RESPONSIBLE AI CREDIT SCORING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Understanding &amp; Testing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58368" y="36118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the black box with explainable AI, then testing — and attacking — it.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4663440"/>
            <a:ext cx="2260397" cy="502920"/>
          </a:xfrm>
          <a:prstGeom prst="roundRect">
            <a:avLst>
              <a:gd name="adj" fmla="val 49091"/>
            </a:avLst>
          </a:prstGeom>
          <a:solidFill>
            <a:srgbClr val="141A45"/>
          </a:solidFill>
          <a:ln w="12700">
            <a:solidFill>
              <a:srgbClr val="3A448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4663440"/>
            <a:ext cx="226039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explainability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3156509" y="4663440"/>
            <a:ext cx="2655418" cy="502920"/>
          </a:xfrm>
          <a:prstGeom prst="roundRect">
            <a:avLst>
              <a:gd name="adj" fmla="val 49091"/>
            </a:avLst>
          </a:prstGeom>
          <a:solidFill>
            <a:srgbClr val="141A45"/>
          </a:solidFill>
          <a:ln w="12700">
            <a:solidFill>
              <a:srgbClr val="3A448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56509" y="4663440"/>
            <a:ext cx="26554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tests · 99% coverage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067958" y="4663440"/>
            <a:ext cx="2457907" cy="502920"/>
          </a:xfrm>
          <a:prstGeom prst="roundRect">
            <a:avLst>
              <a:gd name="adj" fmla="val 49091"/>
            </a:avLst>
          </a:prstGeom>
          <a:solidFill>
            <a:srgbClr val="141A45"/>
          </a:solidFill>
          <a:ln w="12700">
            <a:solidFill>
              <a:srgbClr val="3A448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67958" y="4663440"/>
            <a:ext cx="245790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adversarial attacks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 · GLOBAL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225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drives the decision?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5029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22252E"/>
                </a:solidFill>
              </a:rPr>
              <a:t>SHAP shows what the model weighs overall — and it's reassuring: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52E"/>
                </a:solidFill>
              </a:rPr>
              <a:t>Checking-account status dominates, then loan duration, savings and credit amount.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52E"/>
                </a:solidFill>
              </a:rPr>
              <a:t>These are exactly the financial signals a human loan officer looks at.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22252E"/>
                </a:solidFill>
              </a:rPr>
              <a:t>But Age and Sex carry a small, non-zero influence — the model is not perfectly neutral.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4892040"/>
            <a:ext cx="5120640" cy="1371600"/>
          </a:xfrm>
          <a:prstGeom prst="roundRect">
            <a:avLst>
              <a:gd name="adj" fmla="val 6667"/>
            </a:avLst>
          </a:prstGeom>
          <a:solidFill>
            <a:srgbClr val="F1F5FB"/>
          </a:solidFill>
          <a:ln/>
          <a:effectLst>
            <a:outerShdw sx="100000" sy="100000" kx="0" ky="0" algn="bl" rotWithShape="0" blurRad="101600" dist="38100" dir="5400000">
              <a:srgbClr val="8090A8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502920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534924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sensitive attributes leak in even when they aren't the main driver, dropping them wouldn't fix bias — so we audit instead of assume.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0" y="1600200"/>
            <a:ext cx="5760720" cy="466344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8090A8">
                <a:alpha val="30000"/>
              </a:srgbClr>
            </a:outerShdw>
          </a:effectLst>
        </p:spPr>
      </p:sp>
      <p:pic>
        <p:nvPicPr>
          <p:cNvPr id="9" name="Image 0" descr="results/shap_importance_ba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783080"/>
            <a:ext cx="5394960" cy="371246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126480" y="56235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feature importance — mean |SHAP| toward P(bad credit).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 · LOCAL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225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applicant?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5486400" cy="466344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8090A8">
                <a:alpha val="30000"/>
              </a:srgbClr>
            </a:outerShdw>
          </a:effectLst>
        </p:spPr>
      </p:sp>
      <p:pic>
        <p:nvPicPr>
          <p:cNvPr id="5" name="Image 0" descr="results/shap_local_deni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737360"/>
            <a:ext cx="5120640" cy="4160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8978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Per-applicant SHAP — red pushes risk up, blue pushes it down.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309360" y="1783080"/>
            <a:ext cx="5394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22252E"/>
                </a:solidFill>
              </a:rPr>
              <a:t>SHAP also explains one specific decision: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52E"/>
                </a:solidFill>
              </a:rPr>
              <a:t>Not just 'denied' — but 'denied because of low account balances and a long loan term.'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22252E"/>
                </a:solidFill>
              </a:rPr>
              <a:t>Under GDPR Art. 22, a person has the right to an explanation of an automated decision. This is that explanation, made concrete.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263640" y="4572000"/>
            <a:ext cx="5486400" cy="1691640"/>
          </a:xfrm>
          <a:prstGeom prst="roundRect">
            <a:avLst>
              <a:gd name="adj" fmla="val 5405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5400000">
              <a:srgbClr val="8090A8">
                <a:alpha val="3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492240" y="47548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decision-support app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492240" y="5120640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an applicant → get a risk score, a recommendation, and this SHAP explanation live — plus a fairness warning if they're in a flagged group.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 · MITIGATION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225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found bias — and fixed it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57276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Group-specific decision thresholds repair the disparities we found, at little accuracy cost.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2331720"/>
            <a:ext cx="4937760" cy="2148840"/>
          </a:xfrm>
          <a:prstGeom prst="roundRect">
            <a:avLst>
              <a:gd name="adj" fmla="val 4255"/>
            </a:avLst>
          </a:prstGeom>
          <a:solidFill>
            <a:srgbClr val="F1F5FB"/>
          </a:solidFill>
          <a:ln/>
          <a:effectLst>
            <a:outerShdw sx="100000" sy="100000" kx="0" ky="0" algn="bl" rotWithShape="0" blurRad="101600" dist="38100" dir="5400000">
              <a:srgbClr val="8090A8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48716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8346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BA3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0.83  →  0.98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822960" y="384048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disparate impact — now fair, at no accuracy cost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2331720"/>
            <a:ext cx="4937760" cy="2148840"/>
          </a:xfrm>
          <a:prstGeom prst="roundRect">
            <a:avLst>
              <a:gd name="adj" fmla="val 4255"/>
            </a:avLst>
          </a:prstGeom>
          <a:solidFill>
            <a:srgbClr val="F1F5FB"/>
          </a:solidFill>
          <a:ln/>
          <a:effectLst>
            <a:outerShdw sx="100000" sy="100000" kx="0" ky="0" algn="bl" rotWithShape="0" blurRad="101600" dist="38100" dir="5400000">
              <a:srgbClr val="8090A8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0" y="248716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0" y="28346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BA3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0.56  →  0.86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0" y="384048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passes the 80% rule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22960" y="4800600"/>
            <a:ext cx="10515600" cy="1325880"/>
          </a:xfrm>
          <a:prstGeom prst="roundRect">
            <a:avLst>
              <a:gd name="adj" fmla="val 6897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5400000">
              <a:srgbClr val="8090A8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097280" y="493776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55%  →  25%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4297680" y="4800600"/>
            <a:ext cx="6858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Wrongful-denial rate for applicants under 26 — roughly halved. That is the harm the audit set out to reduce.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 · THE HARD CASE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225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...and where the fix breaks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57276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the SAME fix to foreign-worker status backfires — an honest, important result.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188720" y="2286000"/>
            <a:ext cx="4297680" cy="2148840"/>
          </a:xfrm>
          <a:prstGeom prst="roundRect">
            <a:avLst>
              <a:gd name="adj" fmla="val 4255"/>
            </a:avLst>
          </a:prstGeom>
          <a:solidFill>
            <a:srgbClr val="F1F5FB"/>
          </a:solidFill>
          <a:ln/>
          <a:effectLst>
            <a:outerShdw sx="100000" sy="100000" kx="0" ky="0" algn="bl" rotWithShape="0" blurRad="101600" dist="38100" dir="5400000">
              <a:srgbClr val="8090A8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188720" y="2514600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A64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0.73 → 0.88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1188720" y="36118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 improves...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675120" y="2286000"/>
            <a:ext cx="4297680" cy="2148840"/>
          </a:xfrm>
          <a:prstGeom prst="roundRect">
            <a:avLst>
              <a:gd name="adj" fmla="val 4255"/>
            </a:avLst>
          </a:prstGeom>
          <a:solidFill>
            <a:srgbClr val="FBECEC"/>
          </a:solidFill>
          <a:ln/>
          <a:effectLst>
            <a:outerShdw sx="100000" sy="100000" kx="0" ky="0" algn="bl" rotWithShape="0" blurRad="101600" dist="38100" dir="5400000">
              <a:srgbClr val="8090A8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675120" y="2514600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64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0.70 → 0.50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6675120" y="36118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...but recall collapses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675120" y="404164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foreign workers are ~96% of applicants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188720" y="4800600"/>
            <a:ext cx="9784080" cy="1325880"/>
          </a:xfrm>
          <a:prstGeom prst="roundRect">
            <a:avLst>
              <a:gd name="adj" fmla="val 6897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5400000">
              <a:srgbClr val="8090A8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463040" y="4937760"/>
            <a:ext cx="9235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Fairness mitigation is not always free.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463040" y="5394960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disadvantaged group is a tiny minority, a naive fix trades away the model's purpose — so this is a policy decision, not an automatic switch.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ROBUSTNESS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225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Tested — and attacked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4937760" cy="1234440"/>
          </a:xfrm>
          <a:prstGeom prst="roundRect">
            <a:avLst>
              <a:gd name="adj" fmla="val 7407"/>
            </a:avLst>
          </a:prstGeom>
          <a:solidFill>
            <a:srgbClr val="F1F5FB"/>
          </a:solidFill>
          <a:ln/>
          <a:effectLst>
            <a:outerShdw sx="100000" sy="100000" kx="0" ky="0" algn="bl" rotWithShape="0" blurRad="101600" dist="38100" dir="5400000">
              <a:srgbClr val="8090A8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920240"/>
            <a:ext cx="1737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BA3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2514600" y="1783080"/>
            <a:ext cx="2788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" y="3200400"/>
            <a:ext cx="4937760" cy="1234440"/>
          </a:xfrm>
          <a:prstGeom prst="roundRect">
            <a:avLst>
              <a:gd name="adj" fmla="val 7407"/>
            </a:avLst>
          </a:prstGeom>
          <a:solidFill>
            <a:srgbClr val="F1F5FB"/>
          </a:solidFill>
          <a:ln/>
          <a:effectLst>
            <a:outerShdw sx="100000" sy="100000" kx="0" ky="0" algn="bl" rotWithShape="0" blurRad="101600" dist="38100" dir="5400000">
              <a:srgbClr val="8090A8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3337560"/>
            <a:ext cx="1737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99%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2514600" y="3200400"/>
            <a:ext cx="2788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coverage (enforced ≥80%)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470916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50" b="1" dirty="0">
                <a:solidFill>
                  <a:srgbClr val="22252E"/>
                </a:solidFill>
              </a:rPr>
              <a:t>The tests catch real weaknesses, not just 'does it run':</a:t>
            </a:r>
            <a:endParaRPr lang="en-US" sz="1450" dirty="0"/>
          </a:p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5A6472"/>
                </a:solidFill>
              </a:rPr>
              <a:t>e.g. an invariant test: shrinking a loan can never LOWER approval odds.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806440" y="1737360"/>
            <a:ext cx="5943600" cy="2880360"/>
          </a:xfrm>
          <a:prstGeom prst="roundRect">
            <a:avLst>
              <a:gd name="adj" fmla="val 31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8090A8">
                <a:alpha val="30000"/>
              </a:srgbClr>
            </a:outerShdw>
          </a:effectLst>
        </p:spPr>
      </p:sp>
      <p:pic>
        <p:nvPicPr>
          <p:cNvPr id="12" name="Image 0" descr="results/adversarial_summar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0" y="2148840"/>
            <a:ext cx="5669280" cy="2002536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5943600" y="4224528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attacked our own model: poisoning, evasion &amp; privacy.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806440" y="4846320"/>
            <a:ext cx="5943600" cy="1417320"/>
          </a:xfrm>
          <a:prstGeom prst="roundRect">
            <a:avLst>
              <a:gd name="adj" fmla="val 6452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5400000">
              <a:srgbClr val="8090A8">
                <a:alpha val="3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6035040" y="4983480"/>
            <a:ext cx="1737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~52%</a:t>
            </a:r>
            <a:endParaRPr lang="en-US" sz="4000" dirty="0"/>
          </a:p>
        </p:txBody>
      </p:sp>
      <p:sp>
        <p:nvSpPr>
          <p:cNvPr id="16" name="Text 13"/>
          <p:cNvSpPr/>
          <p:nvPr/>
        </p:nvSpPr>
        <p:spPr>
          <a:xfrm>
            <a:off x="7772400" y="4846320"/>
            <a:ext cx="3794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rejected applicants could game their way to 'approved' just by halving the requested loan — a real risk a bank must know.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931920"/>
            <a:ext cx="5486400" cy="5486400"/>
          </a:xfrm>
          <a:prstGeom prst="ellipse">
            <a:avLst/>
          </a:prstGeom>
          <a:solidFill>
            <a:srgbClr val="141A45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22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MODEL TO A RESPONSIBLE SYSTEM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week, in three moves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3566160" cy="1965960"/>
          </a:xfrm>
          <a:prstGeom prst="roundRect">
            <a:avLst>
              <a:gd name="adj" fmla="val 4651"/>
            </a:avLst>
          </a:prstGeom>
          <a:solidFill>
            <a:srgbClr val="141A45"/>
          </a:solidFill>
          <a:ln/>
          <a:effectLst>
            <a:outerShdw sx="100000" sy="100000" kx="0" ky="0" algn="bl" rotWithShape="0" blurRad="101600" dist="38100" dir="5400000">
              <a:srgbClr val="8090A8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560320"/>
            <a:ext cx="292608" cy="292608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1325880" y="248716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Understood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914400" y="306324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explains what the model weighs — and every single decision.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34840" y="2286000"/>
            <a:ext cx="3566160" cy="1965960"/>
          </a:xfrm>
          <a:prstGeom prst="roundRect">
            <a:avLst>
              <a:gd name="adj" fmla="val 4651"/>
            </a:avLst>
          </a:prstGeom>
          <a:solidFill>
            <a:srgbClr val="141A45"/>
          </a:solidFill>
          <a:ln/>
          <a:effectLst>
            <a:outerShdw sx="100000" sy="100000" kx="0" ky="0" algn="bl" rotWithShape="0" blurRad="101600" dist="38100" dir="5400000">
              <a:srgbClr val="8090A8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2560320"/>
            <a:ext cx="292608" cy="292608"/>
          </a:xfrm>
          <a:prstGeom prst="ellipse">
            <a:avLst/>
          </a:prstGeom>
          <a:solidFill>
            <a:srgbClr val="1BA37A"/>
          </a:solidFill>
          <a:ln/>
        </p:spPr>
      </p:sp>
      <p:sp>
        <p:nvSpPr>
          <p:cNvPr id="11" name="Text 9"/>
          <p:cNvSpPr/>
          <p:nvPr/>
        </p:nvSpPr>
        <p:spPr>
          <a:xfrm>
            <a:off x="5120640" y="248716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Tested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4709160" y="306324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tests at 99% coverage catch real weaknesses automatically.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229600" y="2286000"/>
            <a:ext cx="3566160" cy="1965960"/>
          </a:xfrm>
          <a:prstGeom prst="roundRect">
            <a:avLst>
              <a:gd name="adj" fmla="val 4651"/>
            </a:avLst>
          </a:prstGeom>
          <a:solidFill>
            <a:srgbClr val="141A45"/>
          </a:solidFill>
          <a:ln/>
          <a:effectLst>
            <a:outerShdw sx="100000" sy="100000" kx="0" ky="0" algn="bl" rotWithShape="0" blurRad="101600" dist="38100" dir="5400000">
              <a:srgbClr val="8090A8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503920" y="2560320"/>
            <a:ext cx="292608" cy="292608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15" name="Text 13"/>
          <p:cNvSpPr/>
          <p:nvPr/>
        </p:nvSpPr>
        <p:spPr>
          <a:xfrm>
            <a:off x="8915400" y="248716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Attacked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8503920" y="306324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adversarial studies quantify how it can be gamed or leaked.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48006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(Week 4):  </a:t>
            </a:r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documentation · top-management pitch · a policy-level fix for foreign-worker fairness (sex &amp; age now mitigated).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0080" y="54864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That's the difference between a model and a responsible, deployable system.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 ·  Questions?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2026-07-20T09:39:23Z</dcterms:created>
  <dcterms:modified xsi:type="dcterms:W3CDTF">2026-07-20T09:39:23Z</dcterms:modified>
</cp:coreProperties>
</file>