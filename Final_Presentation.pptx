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We're presenting our Responsible AI credit scoring project. The question we set out to answer was not just 'can we predict credit risk' — but 'can we build a model a bank could actually deploy, legally and ethically'.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scoring isn't an ordinary machine learning problem. The EU AI Act explicitly names it as high-risk, and GDPR gives applicants a right to an explanation. So from day one our goal was not just accuracy — it was building something a bank could legally and ethically deploy, where the model recommends and a human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week one we studied the data. One finding shaped everything: 39% of checking-account values were blank. We went back to the original UCI file and found it has zero missing values — those blanks actually mean the person has no account. So we encoded that as real information instead of guessing. And loan amounts are skewed, so we log-transform rather than throw away the big loans.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decision in our project. If we chase accuracy, we get 72 percent — the highest number in our whole study. But that model catches only 15 percent of bad loans. It would be a disaster for a bank. Approving a bad loan costs about five times more than rejecting a good one, so we optimise recall instead. Our accuracy is lower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three models and picked Random Forest. It catches 75 percent of bad credit with an AUC of 0.77. But we also asked: is it overfitting — just memorising? We measured the gap between training and validation. It was large, so we regularised the model. The gap fell from 0.17 to 0.07, and recall actually improved. The two lines now converge — that's proof it generalises.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audited fairness. And we found real bias. Age fails the 80 percent rule badly — a creditworthy applicant under 26 is wrongly denied 59 percent of the time, versus 29 percent for middle-aged applicants. Sex is borderline. And foreign-worker status also fails — but only the full dataset can show it. That's the key lesson: dropping a sensitive column would have hidden this bias, not removed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fixed it. Group-specific thresholds brought sex from 0.80 to 0.96, and age from 0.50 to 0.82 — halving wrongful denials for young people. But here's the honest part. When we applied the same fix to foreign-worker status, it backfired: fairness improved on paper, but recall crashed from 0.76 to 0.47, because foreign workers are 96 percent of applicants. The lesson: fairness mitigation is not always free. Knowing when NOT to auto-fix is the real responsible-AI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explainability. Globally the model is driven by financial signals — checking account and loan duration, which is what a loan officer looks at. Locally, SHAP explains one specific decision — declined because of low balances and a long term. That's the GDPR right to explanation, made real. And we went one step further: our app tells the applicant how to actually get approved — for example, reduce the loan from 8,000 to 6,000. A denial should come with a path, not just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just test the model — we attacked it. 43 automated tests at 99 percent coverage, and they check correctness, not just that the code runs. Then three attacks: gaming, where 41 percent of rejected applicants could flip to approved just by asking for a smaller loan; data poisoning, where the model degrades only slowly; and a privacy attack, which is barely better than a coin flip. So the privacy risk is small, and we know exactly where the model is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What makes this different is the combination: it's performant on the metric a lender actually pays for, it's fair — we found the bias, measured it, fixed what could be fixed and were honest about what couldn't — and it's accountable: explainable, attack-tested, human-in-the-loop and fully documented. A bank could deploy this without regulatory or reputational blowback, because we found the problems before a regulator would. Remaining work is a policy-level fix for foreign-worker fairness and production logging.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194560"/>
            <a:ext cx="6217920" cy="6217920"/>
          </a:xfrm>
          <a:prstGeom prst="ellipse">
            <a:avLst/>
          </a:prstGeom>
          <a:solidFill>
            <a:srgbClr val="141A45"/>
          </a:solidFill>
          <a:ln/>
        </p:spPr>
      </p:sp>
      <p:sp>
        <p:nvSpPr>
          <p:cNvPr id="3" name="Shape 1"/>
          <p:cNvSpPr/>
          <p:nvPr/>
        </p:nvSpPr>
        <p:spPr>
          <a:xfrm>
            <a:off x="10424160" y="4206240"/>
            <a:ext cx="3657600" cy="3657600"/>
          </a:xfrm>
          <a:prstGeom prst="ellipse">
            <a:avLst/>
          </a:prstGeom>
          <a:solidFill>
            <a:srgbClr val="26306E"/>
          </a:solidFill>
          <a:ln/>
        </p:spPr>
      </p:sp>
      <p:sp>
        <p:nvSpPr>
          <p:cNvPr id="4" name="Text 2"/>
          <p:cNvSpPr/>
          <p:nvPr/>
        </p:nvSpPr>
        <p:spPr>
          <a:xfrm>
            <a:off x="640080" y="1143000"/>
            <a:ext cx="10515600" cy="365760"/>
          </a:xfrm>
          <a:prstGeom prst="rect">
            <a:avLst/>
          </a:prstGeom>
          <a:noFill/>
          <a:ln/>
        </p:spPr>
        <p:txBody>
          <a:bodyPr wrap="square" lIns="0" tIns="0" rIns="0" bIns="0" rtlCol="0" anchor="ctr"/>
          <a:lstStyle/>
          <a:p>
            <a:pPr indent="0" marL="0">
              <a:buNone/>
            </a:pPr>
            <a:r>
              <a:rPr lang="en-US" sz="1400" b="1" spc="200" kern="0" dirty="0">
                <a:solidFill>
                  <a:srgbClr val="CADCFC"/>
                </a:solidFill>
                <a:latin typeface="Calibri" pitchFamily="34" charset="0"/>
                <a:ea typeface="Calibri" pitchFamily="34" charset="-122"/>
                <a:cs typeface="Calibri" pitchFamily="34" charset="-120"/>
              </a:rPr>
              <a:t>FINAL PRESENTATION  ·  RESPONSIBLE AI &amp; DATA ETHICS (PEL, SS2026)</a:t>
            </a:r>
            <a:endParaRPr lang="en-US" sz="1400" dirty="0"/>
          </a:p>
        </p:txBody>
      </p:sp>
      <p:sp>
        <p:nvSpPr>
          <p:cNvPr id="5" name="Text 3"/>
          <p:cNvSpPr/>
          <p:nvPr/>
        </p:nvSpPr>
        <p:spPr>
          <a:xfrm>
            <a:off x="640080" y="1600200"/>
            <a:ext cx="10058400" cy="1737360"/>
          </a:xfrm>
          <a:prstGeom prst="rect">
            <a:avLst/>
          </a:prstGeom>
          <a:noFill/>
          <a:ln/>
        </p:spPr>
        <p:txBody>
          <a:bodyPr wrap="square" lIns="0" tIns="0" rIns="0" bIns="0" rtlCol="0" anchor="ctr"/>
          <a:lstStyle/>
          <a:p>
            <a:pPr indent="0" marL="0">
              <a:lnSpc>
                <a:spcPct val="100000"/>
              </a:lnSpc>
              <a:buNone/>
            </a:pPr>
            <a:r>
              <a:rPr lang="en-US" sz="4600" b="1" dirty="0">
                <a:solidFill>
                  <a:srgbClr val="FFFFFF"/>
                </a:solidFill>
                <a:latin typeface="Cambria" pitchFamily="34" charset="0"/>
                <a:ea typeface="Cambria" pitchFamily="34" charset="-122"/>
                <a:cs typeface="Cambria" pitchFamily="34" charset="-120"/>
              </a:rPr>
              <a:t>Responsible AI for</a:t>
            </a:r>
            <a:endParaRPr lang="en-US" sz="4600" dirty="0"/>
          </a:p>
          <a:p>
            <a:pPr indent="0" marL="0">
              <a:lnSpc>
                <a:spcPct val="100000"/>
              </a:lnSpc>
              <a:buNone/>
            </a:pPr>
            <a:r>
              <a:rPr lang="en-US" sz="4600" b="1" dirty="0">
                <a:solidFill>
                  <a:srgbClr val="FFFFFF"/>
                </a:solidFill>
                <a:latin typeface="Cambria" pitchFamily="34" charset="0"/>
                <a:ea typeface="Cambria" pitchFamily="34" charset="-122"/>
                <a:cs typeface="Cambria" pitchFamily="34" charset="-120"/>
              </a:rPr>
              <a:t>Credit Scoring</a:t>
            </a:r>
            <a:endParaRPr lang="en-US" sz="4600" dirty="0"/>
          </a:p>
        </p:txBody>
      </p:sp>
      <p:sp>
        <p:nvSpPr>
          <p:cNvPr id="6" name="Text 4"/>
          <p:cNvSpPr/>
          <p:nvPr/>
        </p:nvSpPr>
        <p:spPr>
          <a:xfrm>
            <a:off x="658368" y="3401568"/>
            <a:ext cx="9601200" cy="45720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A fairness-audited, explainable and attack-tested credit system</a:t>
            </a:r>
            <a:endParaRPr lang="en-US" sz="1800" dirty="0"/>
          </a:p>
        </p:txBody>
      </p:sp>
      <p:sp>
        <p:nvSpPr>
          <p:cNvPr id="7" name="Text 5"/>
          <p:cNvSpPr/>
          <p:nvPr/>
        </p:nvSpPr>
        <p:spPr>
          <a:xfrm>
            <a:off x="658368" y="3977640"/>
            <a:ext cx="960120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Devagiri Rahul Shrikant   ·   Mehatab</a:t>
            </a:r>
            <a:endParaRPr lang="en-US" sz="1700" dirty="0"/>
          </a:p>
        </p:txBody>
      </p:sp>
      <p:sp>
        <p:nvSpPr>
          <p:cNvPr id="8" name="Shape 6"/>
          <p:cNvSpPr/>
          <p:nvPr/>
        </p:nvSpPr>
        <p:spPr>
          <a:xfrm>
            <a:off x="640080" y="4800600"/>
            <a:ext cx="2634386" cy="502920"/>
          </a:xfrm>
          <a:prstGeom prst="roundRect">
            <a:avLst>
              <a:gd name="adj" fmla="val 49091"/>
            </a:avLst>
          </a:prstGeom>
          <a:solidFill>
            <a:srgbClr val="141A45"/>
          </a:solidFill>
          <a:ln w="12700">
            <a:solidFill>
              <a:srgbClr val="3A4487"/>
            </a:solidFill>
            <a:prstDash val="solid"/>
          </a:ln>
        </p:spPr>
      </p:sp>
      <p:sp>
        <p:nvSpPr>
          <p:cNvPr id="9" name="Text 7"/>
          <p:cNvSpPr/>
          <p:nvPr/>
        </p:nvSpPr>
        <p:spPr>
          <a:xfrm>
            <a:off x="640080" y="4800600"/>
            <a:ext cx="2634386" cy="502920"/>
          </a:xfrm>
          <a:prstGeom prst="rect">
            <a:avLst/>
          </a:prstGeom>
          <a:noFill/>
          <a:ln/>
        </p:spPr>
        <p:txBody>
          <a:bodyPr wrap="square" lIns="0" tIns="0" rIns="0" bIns="0" rtlCol="0" anchor="ctr"/>
          <a:lstStyle/>
          <a:p>
            <a:pPr algn="ctr" indent="0" marL="0">
              <a:buNone/>
            </a:pPr>
            <a:r>
              <a:rPr lang="en-US" sz="1300" b="1" dirty="0">
                <a:solidFill>
                  <a:srgbClr val="CADCFC"/>
                </a:solidFill>
                <a:latin typeface="Calibri" pitchFamily="34" charset="0"/>
                <a:ea typeface="Calibri" pitchFamily="34" charset="-122"/>
                <a:cs typeface="Calibri" pitchFamily="34" charset="-120"/>
              </a:rPr>
              <a:t>43 tests · 99% coverage</a:t>
            </a:r>
            <a:endParaRPr lang="en-US" sz="1300" dirty="0"/>
          </a:p>
        </p:txBody>
      </p:sp>
      <p:sp>
        <p:nvSpPr>
          <p:cNvPr id="10" name="Shape 8"/>
          <p:cNvSpPr/>
          <p:nvPr/>
        </p:nvSpPr>
        <p:spPr>
          <a:xfrm>
            <a:off x="3503066" y="4800600"/>
            <a:ext cx="1655978" cy="502920"/>
          </a:xfrm>
          <a:prstGeom prst="roundRect">
            <a:avLst>
              <a:gd name="adj" fmla="val 49091"/>
            </a:avLst>
          </a:prstGeom>
          <a:solidFill>
            <a:srgbClr val="141A45"/>
          </a:solidFill>
          <a:ln w="12700">
            <a:solidFill>
              <a:srgbClr val="3A4487"/>
            </a:solidFill>
            <a:prstDash val="solid"/>
          </a:ln>
        </p:spPr>
      </p:sp>
      <p:sp>
        <p:nvSpPr>
          <p:cNvPr id="11" name="Text 9"/>
          <p:cNvSpPr/>
          <p:nvPr/>
        </p:nvSpPr>
        <p:spPr>
          <a:xfrm>
            <a:off x="3503066" y="4800600"/>
            <a:ext cx="1655978" cy="502920"/>
          </a:xfrm>
          <a:prstGeom prst="rect">
            <a:avLst/>
          </a:prstGeom>
          <a:noFill/>
          <a:ln/>
        </p:spPr>
        <p:txBody>
          <a:bodyPr wrap="square" lIns="0" tIns="0" rIns="0" bIns="0" rtlCol="0" anchor="ctr"/>
          <a:lstStyle/>
          <a:p>
            <a:pPr algn="ctr" indent="0" marL="0">
              <a:buNone/>
            </a:pPr>
            <a:r>
              <a:rPr lang="en-US" sz="1300" b="1" dirty="0">
                <a:solidFill>
                  <a:srgbClr val="CADCFC"/>
                </a:solidFill>
                <a:latin typeface="Calibri" pitchFamily="34" charset="0"/>
                <a:ea typeface="Calibri" pitchFamily="34" charset="-122"/>
                <a:cs typeface="Calibri" pitchFamily="34" charset="-120"/>
              </a:rPr>
              <a:t>3 bias audits</a:t>
            </a:r>
            <a:endParaRPr lang="en-US" sz="1300" dirty="0"/>
          </a:p>
        </p:txBody>
      </p:sp>
      <p:sp>
        <p:nvSpPr>
          <p:cNvPr id="12" name="Shape 10"/>
          <p:cNvSpPr/>
          <p:nvPr/>
        </p:nvSpPr>
        <p:spPr>
          <a:xfrm>
            <a:off x="5387645" y="4800600"/>
            <a:ext cx="1949501" cy="502920"/>
          </a:xfrm>
          <a:prstGeom prst="roundRect">
            <a:avLst>
              <a:gd name="adj" fmla="val 49091"/>
            </a:avLst>
          </a:prstGeom>
          <a:solidFill>
            <a:srgbClr val="141A45"/>
          </a:solidFill>
          <a:ln w="12700">
            <a:solidFill>
              <a:srgbClr val="3A4487"/>
            </a:solidFill>
            <a:prstDash val="solid"/>
          </a:ln>
        </p:spPr>
      </p:sp>
      <p:sp>
        <p:nvSpPr>
          <p:cNvPr id="13" name="Text 11"/>
          <p:cNvSpPr/>
          <p:nvPr/>
        </p:nvSpPr>
        <p:spPr>
          <a:xfrm>
            <a:off x="5387645" y="4800600"/>
            <a:ext cx="1949501" cy="502920"/>
          </a:xfrm>
          <a:prstGeom prst="rect">
            <a:avLst/>
          </a:prstGeom>
          <a:noFill/>
          <a:ln/>
        </p:spPr>
        <p:txBody>
          <a:bodyPr wrap="square" lIns="0" tIns="0" rIns="0" bIns="0" rtlCol="0" anchor="ctr"/>
          <a:lstStyle/>
          <a:p>
            <a:pPr algn="ctr" indent="0" marL="0">
              <a:buNone/>
            </a:pPr>
            <a:r>
              <a:rPr lang="en-US" sz="1300" b="1" dirty="0">
                <a:solidFill>
                  <a:srgbClr val="CADCFC"/>
                </a:solidFill>
                <a:latin typeface="Calibri" pitchFamily="34" charset="0"/>
                <a:ea typeface="Calibri" pitchFamily="34" charset="-122"/>
                <a:cs typeface="Calibri" pitchFamily="34" charset="-120"/>
              </a:rPr>
              <a:t>3 attack studies</a:t>
            </a:r>
            <a:endParaRPr lang="en-US" sz="1300" dirty="0"/>
          </a:p>
        </p:txBody>
      </p:sp>
      <p:sp>
        <p:nvSpPr>
          <p:cNvPr id="14" name="Shape 12"/>
          <p:cNvSpPr/>
          <p:nvPr/>
        </p:nvSpPr>
        <p:spPr>
          <a:xfrm>
            <a:off x="7565746" y="4800600"/>
            <a:ext cx="1166774" cy="502920"/>
          </a:xfrm>
          <a:prstGeom prst="roundRect">
            <a:avLst>
              <a:gd name="adj" fmla="val 49091"/>
            </a:avLst>
          </a:prstGeom>
          <a:solidFill>
            <a:srgbClr val="141A45"/>
          </a:solidFill>
          <a:ln w="12700">
            <a:solidFill>
              <a:srgbClr val="3A4487"/>
            </a:solidFill>
            <a:prstDash val="solid"/>
          </a:ln>
        </p:spPr>
      </p:sp>
      <p:sp>
        <p:nvSpPr>
          <p:cNvPr id="15" name="Text 13"/>
          <p:cNvSpPr/>
          <p:nvPr/>
        </p:nvSpPr>
        <p:spPr>
          <a:xfrm>
            <a:off x="7565746" y="4800600"/>
            <a:ext cx="1166774" cy="502920"/>
          </a:xfrm>
          <a:prstGeom prst="rect">
            <a:avLst/>
          </a:prstGeom>
          <a:noFill/>
          <a:ln/>
        </p:spPr>
        <p:txBody>
          <a:bodyPr wrap="square" lIns="0" tIns="0" rIns="0" bIns="0" rtlCol="0" anchor="ctr"/>
          <a:lstStyle/>
          <a:p>
            <a:pPr algn="ctr" indent="0" marL="0">
              <a:buNone/>
            </a:pPr>
            <a:r>
              <a:rPr lang="en-US" sz="1300" b="1" dirty="0">
                <a:solidFill>
                  <a:srgbClr val="CADCFC"/>
                </a:solidFill>
                <a:latin typeface="Calibri" pitchFamily="34" charset="0"/>
                <a:ea typeface="Calibri" pitchFamily="34" charset="-122"/>
                <a:cs typeface="Calibri" pitchFamily="34" charset="-120"/>
              </a:rPr>
              <a:t>live app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300" b="1" spc="200" kern="0" dirty="0">
                <a:solidFill>
                  <a:srgbClr val="2A78D6"/>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indent="0" marL="0">
              <a:buNone/>
            </a:pPr>
            <a:r>
              <a:rPr lang="en-US" sz="3300" b="1" dirty="0">
                <a:solidFill>
                  <a:srgbClr val="22252E"/>
                </a:solidFill>
                <a:latin typeface="Cambria" pitchFamily="34" charset="0"/>
                <a:ea typeface="Cambria" pitchFamily="34" charset="-122"/>
                <a:cs typeface="Cambria" pitchFamily="34" charset="-120"/>
              </a:rPr>
              <a:t>Credit scoring is high-risk — by law</a:t>
            </a:r>
            <a:endParaRPr lang="en-US" sz="3300" dirty="0"/>
          </a:p>
        </p:txBody>
      </p:sp>
      <p:sp>
        <p:nvSpPr>
          <p:cNvPr id="4" name="Text 2"/>
          <p:cNvSpPr/>
          <p:nvPr/>
        </p:nvSpPr>
        <p:spPr>
          <a:xfrm>
            <a:off x="548640" y="1783080"/>
            <a:ext cx="6400800" cy="310896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rgbClr val="22252E"/>
                </a:solidFill>
              </a:rPr>
              <a:t>The EU AI Act names credit scoring a HIGH-RISK use case (Annex III). It is not a grey area.</a:t>
            </a:r>
            <a:endParaRPr lang="en-US" sz="1500" dirty="0"/>
          </a:p>
          <a:p>
            <a:pPr marL="203200" indent="-203200">
              <a:spcAft>
                <a:spcPts val="900"/>
              </a:spcAft>
              <a:buSzPct val="100000"/>
              <a:buChar char="•"/>
            </a:pPr>
            <a:r>
              <a:rPr lang="en-US" sz="1500" dirty="0">
                <a:solidFill>
                  <a:srgbClr val="22252E"/>
                </a:solidFill>
              </a:rPr>
              <a:t>GDPR Article 22 gives every applicant the right to an explanation of an automated decision.</a:t>
            </a:r>
            <a:endParaRPr lang="en-US" sz="1500" dirty="0"/>
          </a:p>
          <a:p>
            <a:pPr marL="203200" indent="-203200">
              <a:spcAft>
                <a:spcPts val="900"/>
              </a:spcAft>
              <a:buSzPct val="100000"/>
              <a:buChar char="•"/>
            </a:pPr>
            <a:r>
              <a:rPr lang="en-US" sz="1500" dirty="0">
                <a:solidFill>
                  <a:srgbClr val="22252E"/>
                </a:solidFill>
              </a:rPr>
              <a:t>A wrong decision denies someone a loan, or hands a bank a default. Both are real harm.</a:t>
            </a:r>
            <a:endParaRPr lang="en-US" sz="1500" dirty="0"/>
          </a:p>
          <a:p>
            <a:pPr marL="203200" indent="-203200">
              <a:spcAft>
                <a:spcPts val="900"/>
              </a:spcAft>
              <a:buSzPct val="100000"/>
              <a:buChar char="•"/>
            </a:pPr>
            <a:r>
              <a:rPr lang="en-US" sz="1500" dirty="0">
                <a:solidFill>
                  <a:srgbClr val="22252E"/>
                </a:solidFill>
              </a:rPr>
              <a:t>Our data: 1,000 German loan applicants, 70% good / 30% bad credit.</a:t>
            </a:r>
            <a:endParaRPr lang="en-US" sz="1500" dirty="0"/>
          </a:p>
        </p:txBody>
      </p:sp>
      <p:sp>
        <p:nvSpPr>
          <p:cNvPr id="5" name="Shape 3"/>
          <p:cNvSpPr/>
          <p:nvPr/>
        </p:nvSpPr>
        <p:spPr>
          <a:xfrm>
            <a:off x="7315200" y="1783080"/>
            <a:ext cx="4343400" cy="3291840"/>
          </a:xfrm>
          <a:prstGeom prst="roundRect">
            <a:avLst>
              <a:gd name="adj" fmla="val 2778"/>
            </a:avLst>
          </a:prstGeom>
          <a:solidFill>
            <a:srgbClr val="1E2761"/>
          </a:solidFill>
          <a:ln/>
          <a:effectLst>
            <a:outerShdw sx="100000" sy="100000" kx="0" ky="0" algn="bl" rotWithShape="0" blurRad="101600" dist="38100" dir="5400000">
              <a:srgbClr val="8090A8">
                <a:alpha val="30000"/>
              </a:srgbClr>
            </a:outerShdw>
          </a:effectLst>
        </p:spPr>
      </p:sp>
      <p:sp>
        <p:nvSpPr>
          <p:cNvPr id="6" name="Text 4"/>
          <p:cNvSpPr/>
          <p:nvPr/>
        </p:nvSpPr>
        <p:spPr>
          <a:xfrm>
            <a:off x="7589520" y="2011680"/>
            <a:ext cx="3840480" cy="365760"/>
          </a:xfrm>
          <a:prstGeom prst="rect">
            <a:avLst/>
          </a:prstGeom>
          <a:noFill/>
          <a:ln/>
        </p:spPr>
        <p:txBody>
          <a:bodyPr wrap="square" lIns="0" tIns="0" rIns="0" bIns="0" rtlCol="0" anchor="ctr"/>
          <a:lstStyle/>
          <a:p>
            <a:pPr indent="0" marL="0">
              <a:buNone/>
            </a:pPr>
            <a:r>
              <a:rPr lang="en-US" sz="1500" b="1" dirty="0">
                <a:solidFill>
                  <a:srgbClr val="CADCFC"/>
                </a:solidFill>
                <a:latin typeface="Calibri" pitchFamily="34" charset="0"/>
                <a:ea typeface="Calibri" pitchFamily="34" charset="-122"/>
                <a:cs typeface="Calibri" pitchFamily="34" charset="-120"/>
              </a:rPr>
              <a:t>Our goal</a:t>
            </a:r>
            <a:endParaRPr lang="en-US" sz="1500" dirty="0"/>
          </a:p>
        </p:txBody>
      </p:sp>
      <p:sp>
        <p:nvSpPr>
          <p:cNvPr id="7" name="Text 5"/>
          <p:cNvSpPr/>
          <p:nvPr/>
        </p:nvSpPr>
        <p:spPr>
          <a:xfrm>
            <a:off x="7589520" y="2423160"/>
            <a:ext cx="3840480" cy="12801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Not just an accurate model — an auditable, explainable, fair and legally defensible one.</a:t>
            </a:r>
            <a:endParaRPr lang="en-US" sz="1900" dirty="0"/>
          </a:p>
        </p:txBody>
      </p:sp>
      <p:sp>
        <p:nvSpPr>
          <p:cNvPr id="8" name="Text 6"/>
          <p:cNvSpPr/>
          <p:nvPr/>
        </p:nvSpPr>
        <p:spPr>
          <a:xfrm>
            <a:off x="7589520" y="3886200"/>
            <a:ext cx="3840480" cy="91440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The model recommends. A human loan officer decides.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300" b="1" spc="200" kern="0" dirty="0">
                <a:solidFill>
                  <a:srgbClr val="2A78D6"/>
                </a:solidFill>
                <a:latin typeface="Calibri" pitchFamily="34" charset="0"/>
                <a:ea typeface="Calibri" pitchFamily="34" charset="-122"/>
                <a:cs typeface="Calibri" pitchFamily="34" charset="-120"/>
              </a:rPr>
              <a:t>WEEK 1 · DATA</a:t>
            </a:r>
            <a:endParaRPr lang="en-US" sz="13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indent="0" marL="0">
              <a:buNone/>
            </a:pPr>
            <a:r>
              <a:rPr lang="en-US" sz="3300" b="1" dirty="0">
                <a:solidFill>
                  <a:srgbClr val="22252E"/>
                </a:solidFill>
                <a:latin typeface="Cambria" pitchFamily="34" charset="0"/>
                <a:ea typeface="Cambria" pitchFamily="34" charset="-122"/>
                <a:cs typeface="Cambria" pitchFamily="34" charset="-120"/>
              </a:rPr>
              <a:t>What the data told us</a:t>
            </a:r>
            <a:endParaRPr lang="en-US" sz="3300" dirty="0"/>
          </a:p>
        </p:txBody>
      </p:sp>
      <p:sp>
        <p:nvSpPr>
          <p:cNvPr id="4" name="Text 2"/>
          <p:cNvSpPr/>
          <p:nvPr/>
        </p:nvSpPr>
        <p:spPr>
          <a:xfrm>
            <a:off x="548640" y="1783080"/>
            <a:ext cx="5212080" cy="329184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rgbClr val="22252E"/>
                </a:solidFill>
              </a:rPr>
              <a:t>39% of applicants had no checking-account value. We checked the ORIGINAL UCI file — it has zero missing values.</a:t>
            </a:r>
            <a:endParaRPr lang="en-US" sz="1400" dirty="0"/>
          </a:p>
          <a:p>
            <a:pPr marL="203200" indent="-203200">
              <a:spcAft>
                <a:spcPts val="900"/>
              </a:spcAft>
              <a:buSzPct val="100000"/>
              <a:buChar char="•"/>
            </a:pPr>
            <a:r>
              <a:rPr lang="en-US" sz="1400" dirty="0">
                <a:solidFill>
                  <a:srgbClr val="22252E"/>
                </a:solidFill>
              </a:rPr>
              <a:t>Those blanks are really 'no account exists'. So we encoded them as a category instead of guessing a number.</a:t>
            </a:r>
            <a:endParaRPr lang="en-US" sz="1400" dirty="0"/>
          </a:p>
          <a:p>
            <a:pPr marL="203200" indent="-203200">
              <a:spcAft>
                <a:spcPts val="900"/>
              </a:spcAft>
              <a:buSzPct val="100000"/>
              <a:buChar char="•"/>
            </a:pPr>
            <a:r>
              <a:rPr lang="en-US" sz="1400" dirty="0">
                <a:solidFill>
                  <a:srgbClr val="22252E"/>
                </a:solidFill>
              </a:rPr>
              <a:t>Loan amounts are heavily skewed — a few very large loans. We log-transform rather than delete them.</a:t>
            </a:r>
            <a:endParaRPr lang="en-US" sz="1400" dirty="0"/>
          </a:p>
          <a:p>
            <a:pPr marL="203200" indent="-203200">
              <a:spcAft>
                <a:spcPts val="900"/>
              </a:spcAft>
              <a:buSzPct val="100000"/>
              <a:buChar char="•"/>
            </a:pPr>
            <a:r>
              <a:rPr lang="en-US" sz="1400" dirty="0">
                <a:solidFill>
                  <a:srgbClr val="22252E"/>
                </a:solidFill>
              </a:rPr>
              <a:t>Sensitive attributes present: age, sex — and in the full dataset, foreign-worker status.</a:t>
            </a:r>
            <a:endParaRPr lang="en-US" sz="1400" dirty="0"/>
          </a:p>
        </p:txBody>
      </p:sp>
      <p:sp>
        <p:nvSpPr>
          <p:cNvPr id="5" name="Shape 3"/>
          <p:cNvSpPr/>
          <p:nvPr/>
        </p:nvSpPr>
        <p:spPr>
          <a:xfrm>
            <a:off x="6035040" y="1691640"/>
            <a:ext cx="5669280" cy="4206240"/>
          </a:xfrm>
          <a:prstGeom prst="roundRect">
            <a:avLst>
              <a:gd name="adj" fmla="val 2174"/>
            </a:avLst>
          </a:prstGeom>
          <a:solidFill>
            <a:srgbClr val="FFFFFF"/>
          </a:solidFill>
          <a:ln/>
          <a:effectLst>
            <a:outerShdw sx="100000" sy="100000" kx="0" ky="0" algn="bl" rotWithShape="0" blurRad="101600" dist="38100" dir="5400000">
              <a:srgbClr val="8090A8">
                <a:alpha val="30000"/>
              </a:srgbClr>
            </a:outerShdw>
          </a:effectLst>
        </p:spPr>
      </p:sp>
      <p:pic>
        <p:nvPicPr>
          <p:cNvPr id="6" name="Image 0" descr="results/credit_amount_spread.png">    </p:cNvPr>
          <p:cNvPicPr>
            <a:picLocks noChangeAspect="1"/>
          </p:cNvPicPr>
          <p:nvPr/>
        </p:nvPicPr>
        <p:blipFill>
          <a:blip r:embed="rId1"/>
          <a:srcRect l="0" r="0" t="0" b="0"/>
          <a:stretch/>
        </p:blipFill>
        <p:spPr>
          <a:xfrm>
            <a:off x="6172200" y="2148840"/>
            <a:ext cx="5394960" cy="2377440"/>
          </a:xfrm>
          <a:prstGeom prst="rect">
            <a:avLst/>
          </a:prstGeom>
        </p:spPr>
      </p:pic>
      <p:sp>
        <p:nvSpPr>
          <p:cNvPr id="7" name="Text 4"/>
          <p:cNvSpPr/>
          <p:nvPr/>
        </p:nvSpPr>
        <p:spPr>
          <a:xfrm>
            <a:off x="6172200" y="4663440"/>
            <a:ext cx="5394960" cy="36576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Loan amounts before (left) and after (right) the log-transform.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300" b="1" spc="200" kern="0" dirty="0">
                <a:solidFill>
                  <a:srgbClr val="2A78D6"/>
                </a:solidFill>
                <a:latin typeface="Calibri" pitchFamily="34" charset="0"/>
                <a:ea typeface="Calibri" pitchFamily="34" charset="-122"/>
                <a:cs typeface="Calibri" pitchFamily="34" charset="-120"/>
              </a:rPr>
              <a:t>THE CORE DECISION</a:t>
            </a:r>
            <a:endParaRPr lang="en-US" sz="13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indent="0" marL="0">
              <a:buNone/>
            </a:pPr>
            <a:r>
              <a:rPr lang="en-US" sz="3300" b="1" dirty="0">
                <a:solidFill>
                  <a:srgbClr val="22252E"/>
                </a:solidFill>
                <a:latin typeface="Cambria" pitchFamily="34" charset="0"/>
                <a:ea typeface="Cambria" pitchFamily="34" charset="-122"/>
                <a:cs typeface="Cambria" pitchFamily="34" charset="-120"/>
              </a:rPr>
              <a:t>Why we do NOT optimise accuracy</a:t>
            </a:r>
            <a:endParaRPr lang="en-US" sz="3300" dirty="0"/>
          </a:p>
        </p:txBody>
      </p:sp>
      <p:sp>
        <p:nvSpPr>
          <p:cNvPr id="4" name="Text 2"/>
          <p:cNvSpPr/>
          <p:nvPr/>
        </p:nvSpPr>
        <p:spPr>
          <a:xfrm>
            <a:off x="548640" y="1572768"/>
            <a:ext cx="11064240" cy="502920"/>
          </a:xfrm>
          <a:prstGeom prst="rect">
            <a:avLst/>
          </a:prstGeom>
          <a:noFill/>
          <a:ln/>
        </p:spPr>
        <p:txBody>
          <a:bodyPr wrap="square" lIns="0" tIns="0" rIns="0" bIns="0" rtlCol="0" anchor="ctr"/>
          <a:lstStyle/>
          <a:p>
            <a:pPr indent="0" marL="0">
              <a:buNone/>
            </a:pPr>
            <a:r>
              <a:rPr lang="en-US" sz="1600" dirty="0">
                <a:solidFill>
                  <a:srgbClr val="5A6472"/>
                </a:solidFill>
                <a:latin typeface="Calibri" pitchFamily="34" charset="0"/>
                <a:ea typeface="Calibri" pitchFamily="34" charset="-122"/>
                <a:cs typeface="Calibri" pitchFamily="34" charset="-120"/>
              </a:rPr>
              <a:t>Approving a bad loan costs a bank about 5x more than rejecting a good one. So we optimise recall — catching bad credit — not accuracy.</a:t>
            </a:r>
            <a:endParaRPr lang="en-US" sz="1600" dirty="0"/>
          </a:p>
        </p:txBody>
      </p:sp>
      <p:sp>
        <p:nvSpPr>
          <p:cNvPr id="5" name="Shape 3"/>
          <p:cNvSpPr/>
          <p:nvPr/>
        </p:nvSpPr>
        <p:spPr>
          <a:xfrm>
            <a:off x="1188720" y="2377440"/>
            <a:ext cx="4297680" cy="2377440"/>
          </a:xfrm>
          <a:prstGeom prst="roundRect">
            <a:avLst>
              <a:gd name="adj" fmla="val 3846"/>
            </a:avLst>
          </a:prstGeom>
          <a:solidFill>
            <a:srgbClr val="F1F5FB"/>
          </a:solidFill>
          <a:ln/>
          <a:effectLst>
            <a:outerShdw sx="100000" sy="100000" kx="0" ky="0" algn="bl" rotWithShape="0" blurRad="101600" dist="38100" dir="5400000">
              <a:srgbClr val="8090A8">
                <a:alpha val="30000"/>
              </a:srgbClr>
            </a:outerShdw>
          </a:effectLst>
        </p:spPr>
      </p:sp>
      <p:sp>
        <p:nvSpPr>
          <p:cNvPr id="6" name="Text 4"/>
          <p:cNvSpPr/>
          <p:nvPr/>
        </p:nvSpPr>
        <p:spPr>
          <a:xfrm>
            <a:off x="1188720" y="2606040"/>
            <a:ext cx="4297680" cy="1097280"/>
          </a:xfrm>
          <a:prstGeom prst="rect">
            <a:avLst/>
          </a:prstGeom>
          <a:noFill/>
          <a:ln/>
        </p:spPr>
        <p:txBody>
          <a:bodyPr wrap="square" lIns="0" tIns="0" rIns="0" bIns="0" rtlCol="0" anchor="ctr"/>
          <a:lstStyle/>
          <a:p>
            <a:pPr algn="ctr" indent="0" marL="0">
              <a:buNone/>
            </a:pPr>
            <a:r>
              <a:rPr lang="en-US" sz="8000" b="1" dirty="0">
                <a:solidFill>
                  <a:srgbClr val="5A6472"/>
                </a:solidFill>
                <a:latin typeface="Cambria" pitchFamily="34" charset="0"/>
                <a:ea typeface="Cambria" pitchFamily="34" charset="-122"/>
                <a:cs typeface="Cambria" pitchFamily="34" charset="-120"/>
              </a:rPr>
              <a:t>0.72</a:t>
            </a:r>
            <a:endParaRPr lang="en-US" sz="8000" dirty="0"/>
          </a:p>
        </p:txBody>
      </p:sp>
      <p:sp>
        <p:nvSpPr>
          <p:cNvPr id="7" name="Text 5"/>
          <p:cNvSpPr/>
          <p:nvPr/>
        </p:nvSpPr>
        <p:spPr>
          <a:xfrm>
            <a:off x="1188720" y="3794760"/>
            <a:ext cx="4297680" cy="365760"/>
          </a:xfrm>
          <a:prstGeom prst="rect">
            <a:avLst/>
          </a:prstGeom>
          <a:noFill/>
          <a:ln/>
        </p:spPr>
        <p:txBody>
          <a:bodyPr wrap="square" lIns="0" tIns="0" rIns="0" bIns="0" rtlCol="0" anchor="ctr"/>
          <a:lstStyle/>
          <a:p>
            <a:pPr algn="ctr" indent="0" marL="0">
              <a:buNone/>
            </a:pPr>
            <a:r>
              <a:rPr lang="en-US" sz="1700" b="1" dirty="0">
                <a:solidFill>
                  <a:srgbClr val="22252E"/>
                </a:solidFill>
                <a:latin typeface="Calibri" pitchFamily="34" charset="0"/>
                <a:ea typeface="Calibri" pitchFamily="34" charset="-122"/>
                <a:cs typeface="Calibri" pitchFamily="34" charset="-120"/>
              </a:rPr>
              <a:t>Highest accuracy</a:t>
            </a:r>
            <a:endParaRPr lang="en-US" sz="1700" dirty="0"/>
          </a:p>
        </p:txBody>
      </p:sp>
      <p:sp>
        <p:nvSpPr>
          <p:cNvPr id="8" name="Text 6"/>
          <p:cNvSpPr/>
          <p:nvPr/>
        </p:nvSpPr>
        <p:spPr>
          <a:xfrm>
            <a:off x="1188720" y="4160520"/>
            <a:ext cx="4297680" cy="365760"/>
          </a:xfrm>
          <a:prstGeom prst="rect">
            <a:avLst/>
          </a:prstGeom>
          <a:noFill/>
          <a:ln/>
        </p:spPr>
        <p:txBody>
          <a:bodyPr wrap="square" lIns="0" tIns="0" rIns="0" bIns="0" rtlCol="0" anchor="ctr"/>
          <a:lstStyle/>
          <a:p>
            <a:pPr algn="ctr" indent="0" marL="0">
              <a:buNone/>
            </a:pPr>
            <a:r>
              <a:rPr lang="en-US" sz="1300" dirty="0">
                <a:solidFill>
                  <a:srgbClr val="5A6472"/>
                </a:solidFill>
                <a:latin typeface="Calibri" pitchFamily="34" charset="0"/>
                <a:ea typeface="Calibri" pitchFamily="34" charset="-122"/>
                <a:cs typeface="Calibri" pitchFamily="34" charset="-120"/>
              </a:rPr>
              <a:t>model with NO cost-weighting</a:t>
            </a:r>
            <a:endParaRPr lang="en-US" sz="1300" dirty="0"/>
          </a:p>
        </p:txBody>
      </p:sp>
      <p:sp>
        <p:nvSpPr>
          <p:cNvPr id="9" name="Shape 7"/>
          <p:cNvSpPr/>
          <p:nvPr/>
        </p:nvSpPr>
        <p:spPr>
          <a:xfrm>
            <a:off x="6675120" y="2377440"/>
            <a:ext cx="4297680" cy="2377440"/>
          </a:xfrm>
          <a:prstGeom prst="roundRect">
            <a:avLst>
              <a:gd name="adj" fmla="val 3846"/>
            </a:avLst>
          </a:prstGeom>
          <a:solidFill>
            <a:srgbClr val="FBECEC"/>
          </a:solidFill>
          <a:ln/>
          <a:effectLst>
            <a:outerShdw sx="100000" sy="100000" kx="0" ky="0" algn="bl" rotWithShape="0" blurRad="101600" dist="38100" dir="5400000">
              <a:srgbClr val="8090A8">
                <a:alpha val="30000"/>
              </a:srgbClr>
            </a:outerShdw>
          </a:effectLst>
        </p:spPr>
      </p:sp>
      <p:sp>
        <p:nvSpPr>
          <p:cNvPr id="10" name="Text 8"/>
          <p:cNvSpPr/>
          <p:nvPr/>
        </p:nvSpPr>
        <p:spPr>
          <a:xfrm>
            <a:off x="6675120" y="2606040"/>
            <a:ext cx="4297680" cy="1097280"/>
          </a:xfrm>
          <a:prstGeom prst="rect">
            <a:avLst/>
          </a:prstGeom>
          <a:noFill/>
          <a:ln/>
        </p:spPr>
        <p:txBody>
          <a:bodyPr wrap="square" lIns="0" tIns="0" rIns="0" bIns="0" rtlCol="0" anchor="ctr"/>
          <a:lstStyle/>
          <a:p>
            <a:pPr algn="ctr" indent="0" marL="0">
              <a:buNone/>
            </a:pPr>
            <a:r>
              <a:rPr lang="en-US" sz="8000" b="1" dirty="0">
                <a:solidFill>
                  <a:srgbClr val="D64545"/>
                </a:solidFill>
                <a:latin typeface="Cambria" pitchFamily="34" charset="0"/>
                <a:ea typeface="Cambria" pitchFamily="34" charset="-122"/>
                <a:cs typeface="Cambria" pitchFamily="34" charset="-120"/>
              </a:rPr>
              <a:t>0.15</a:t>
            </a:r>
            <a:endParaRPr lang="en-US" sz="8000" dirty="0"/>
          </a:p>
        </p:txBody>
      </p:sp>
      <p:sp>
        <p:nvSpPr>
          <p:cNvPr id="11" name="Text 9"/>
          <p:cNvSpPr/>
          <p:nvPr/>
        </p:nvSpPr>
        <p:spPr>
          <a:xfrm>
            <a:off x="6675120" y="3794760"/>
            <a:ext cx="4297680" cy="365760"/>
          </a:xfrm>
          <a:prstGeom prst="rect">
            <a:avLst/>
          </a:prstGeom>
          <a:noFill/>
          <a:ln/>
        </p:spPr>
        <p:txBody>
          <a:bodyPr wrap="square" lIns="0" tIns="0" rIns="0" bIns="0" rtlCol="0" anchor="ctr"/>
          <a:lstStyle/>
          <a:p>
            <a:pPr algn="ctr" indent="0" marL="0">
              <a:buNone/>
            </a:pPr>
            <a:r>
              <a:rPr lang="en-US" sz="1700" b="1" dirty="0">
                <a:solidFill>
                  <a:srgbClr val="22252E"/>
                </a:solidFill>
                <a:latin typeface="Calibri" pitchFamily="34" charset="0"/>
                <a:ea typeface="Calibri" pitchFamily="34" charset="-122"/>
                <a:cs typeface="Calibri" pitchFamily="34" charset="-120"/>
              </a:rPr>
              <a:t>...but it catches only 15%</a:t>
            </a:r>
            <a:endParaRPr lang="en-US" sz="1700" dirty="0"/>
          </a:p>
        </p:txBody>
      </p:sp>
      <p:sp>
        <p:nvSpPr>
          <p:cNvPr id="12" name="Text 10"/>
          <p:cNvSpPr/>
          <p:nvPr/>
        </p:nvSpPr>
        <p:spPr>
          <a:xfrm>
            <a:off x="6675120" y="4160520"/>
            <a:ext cx="4297680" cy="365760"/>
          </a:xfrm>
          <a:prstGeom prst="rect">
            <a:avLst/>
          </a:prstGeom>
          <a:noFill/>
          <a:ln/>
        </p:spPr>
        <p:txBody>
          <a:bodyPr wrap="square" lIns="0" tIns="0" rIns="0" bIns="0" rtlCol="0" anchor="ctr"/>
          <a:lstStyle/>
          <a:p>
            <a:pPr algn="ctr" indent="0" marL="0">
              <a:buNone/>
            </a:pPr>
            <a:r>
              <a:rPr lang="en-US" sz="1300" dirty="0">
                <a:solidFill>
                  <a:srgbClr val="D64545"/>
                </a:solidFill>
                <a:latin typeface="Calibri" pitchFamily="34" charset="0"/>
                <a:ea typeface="Calibri" pitchFamily="34" charset="-122"/>
                <a:cs typeface="Calibri" pitchFamily="34" charset="-120"/>
              </a:rPr>
              <a:t>of the bad loans</a:t>
            </a:r>
            <a:endParaRPr lang="en-US" sz="1300" dirty="0"/>
          </a:p>
        </p:txBody>
      </p:sp>
      <p:sp>
        <p:nvSpPr>
          <p:cNvPr id="13" name="Shape 11"/>
          <p:cNvSpPr/>
          <p:nvPr/>
        </p:nvSpPr>
        <p:spPr>
          <a:xfrm>
            <a:off x="5623560" y="3429000"/>
            <a:ext cx="914400" cy="548640"/>
          </a:xfrm>
          <a:prstGeom prst="rightArrow">
            <a:avLst/>
          </a:prstGeom>
          <a:solidFill>
            <a:srgbClr val="1E2761"/>
          </a:solidFill>
          <a:ln/>
        </p:spPr>
      </p:sp>
      <p:sp>
        <p:nvSpPr>
          <p:cNvPr id="14" name="Text 12"/>
          <p:cNvSpPr/>
          <p:nvPr/>
        </p:nvSpPr>
        <p:spPr>
          <a:xfrm>
            <a:off x="1188720" y="5029200"/>
            <a:ext cx="9784080" cy="640080"/>
          </a:xfrm>
          <a:prstGeom prst="rect">
            <a:avLst/>
          </a:prstGeom>
          <a:noFill/>
          <a:ln/>
        </p:spPr>
        <p:txBody>
          <a:bodyPr wrap="square" lIns="0" tIns="0" rIns="0" bIns="0" rtlCol="0" anchor="ctr"/>
          <a:lstStyle/>
          <a:p>
            <a:pPr algn="ctr" indent="0" marL="0">
              <a:buNone/>
            </a:pPr>
            <a:r>
              <a:rPr lang="en-US" sz="1800" b="1" i="1" dirty="0">
                <a:solidFill>
                  <a:srgbClr val="1E2761"/>
                </a:solidFill>
                <a:latin typeface="Cambria" pitchFamily="34" charset="0"/>
                <a:ea typeface="Cambria" pitchFamily="34" charset="-122"/>
                <a:cs typeface="Cambria" pitchFamily="34" charset="-120"/>
              </a:rPr>
              <a:t>The 'most accurate' model is the worst lender. Our model scores lower on accuracy — on purpose.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300" b="1" spc="200" kern="0" dirty="0">
                <a:solidFill>
                  <a:srgbClr val="2A78D6"/>
                </a:solidFill>
                <a:latin typeface="Calibri" pitchFamily="34" charset="0"/>
                <a:ea typeface="Calibri" pitchFamily="34" charset="-122"/>
                <a:cs typeface="Calibri" pitchFamily="34" charset="-120"/>
              </a:rPr>
              <a:t>WEEKS 2–3 · THE MODEL</a:t>
            </a:r>
            <a:endParaRPr lang="en-US" sz="13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indent="0" marL="0">
              <a:buNone/>
            </a:pPr>
            <a:r>
              <a:rPr lang="en-US" sz="3300" b="1" dirty="0">
                <a:solidFill>
                  <a:srgbClr val="22252E"/>
                </a:solidFill>
                <a:latin typeface="Cambria" pitchFamily="34" charset="0"/>
                <a:ea typeface="Cambria" pitchFamily="34" charset="-122"/>
                <a:cs typeface="Cambria" pitchFamily="34" charset="-120"/>
              </a:rPr>
              <a:t>The model — and proof it generalises</a:t>
            </a:r>
            <a:endParaRPr lang="en-US" sz="3300" dirty="0"/>
          </a:p>
        </p:txBody>
      </p:sp>
      <p:sp>
        <p:nvSpPr>
          <p:cNvPr id="4" name="Shape 2"/>
          <p:cNvSpPr/>
          <p:nvPr/>
        </p:nvSpPr>
        <p:spPr>
          <a:xfrm>
            <a:off x="502920" y="1783080"/>
            <a:ext cx="5029200" cy="1188720"/>
          </a:xfrm>
          <a:prstGeom prst="roundRect">
            <a:avLst>
              <a:gd name="adj" fmla="val 7692"/>
            </a:avLst>
          </a:prstGeom>
          <a:solidFill>
            <a:srgbClr val="F1F5FB"/>
          </a:solidFill>
          <a:ln/>
          <a:effectLst>
            <a:outerShdw sx="100000" sy="100000" kx="0" ky="0" algn="bl" rotWithShape="0" blurRad="101600" dist="38100" dir="5400000">
              <a:srgbClr val="8090A8">
                <a:alpha val="30000"/>
              </a:srgbClr>
            </a:outerShdw>
          </a:effectLst>
        </p:spPr>
      </p:sp>
      <p:sp>
        <p:nvSpPr>
          <p:cNvPr id="5" name="Text 3"/>
          <p:cNvSpPr/>
          <p:nvPr/>
        </p:nvSpPr>
        <p:spPr>
          <a:xfrm>
            <a:off x="685800" y="1892808"/>
            <a:ext cx="1554480" cy="960120"/>
          </a:xfrm>
          <a:prstGeom prst="rect">
            <a:avLst/>
          </a:prstGeom>
          <a:noFill/>
          <a:ln/>
        </p:spPr>
        <p:txBody>
          <a:bodyPr wrap="square" lIns="0" tIns="0" rIns="0" bIns="0" rtlCol="0" anchor="ctr"/>
          <a:lstStyle/>
          <a:p>
            <a:pPr algn="ctr" indent="0" marL="0">
              <a:buNone/>
            </a:pPr>
            <a:r>
              <a:rPr lang="en-US" sz="4000" b="1" dirty="0">
                <a:solidFill>
                  <a:srgbClr val="1BA37A"/>
                </a:solidFill>
                <a:latin typeface="Cambria" pitchFamily="34" charset="0"/>
                <a:ea typeface="Cambria" pitchFamily="34" charset="-122"/>
                <a:cs typeface="Cambria" pitchFamily="34" charset="-120"/>
              </a:rPr>
              <a:t>0.75</a:t>
            </a:r>
            <a:endParaRPr lang="en-US" sz="4000" dirty="0"/>
          </a:p>
        </p:txBody>
      </p:sp>
      <p:sp>
        <p:nvSpPr>
          <p:cNvPr id="6" name="Text 4"/>
          <p:cNvSpPr/>
          <p:nvPr/>
        </p:nvSpPr>
        <p:spPr>
          <a:xfrm>
            <a:off x="2286000" y="1783080"/>
            <a:ext cx="3063240" cy="1188720"/>
          </a:xfrm>
          <a:prstGeom prst="rect">
            <a:avLst/>
          </a:prstGeom>
          <a:noFill/>
          <a:ln/>
        </p:spPr>
        <p:txBody>
          <a:bodyPr wrap="square" lIns="0" tIns="0" rIns="0" bIns="0" rtlCol="0" anchor="ctr"/>
          <a:lstStyle/>
          <a:p>
            <a:pPr indent="0" marL="0">
              <a:buNone/>
            </a:pPr>
            <a:r>
              <a:rPr lang="en-US" sz="1400" b="1" dirty="0">
                <a:solidFill>
                  <a:srgbClr val="22252E"/>
                </a:solidFill>
                <a:latin typeface="Calibri" pitchFamily="34" charset="0"/>
                <a:ea typeface="Calibri" pitchFamily="34" charset="-122"/>
                <a:cs typeface="Calibri" pitchFamily="34" charset="-120"/>
              </a:rPr>
              <a:t>recall on bad credit (our primary metric)</a:t>
            </a:r>
            <a:endParaRPr lang="en-US" sz="1400" dirty="0"/>
          </a:p>
        </p:txBody>
      </p:sp>
      <p:sp>
        <p:nvSpPr>
          <p:cNvPr id="7" name="Shape 5"/>
          <p:cNvSpPr/>
          <p:nvPr/>
        </p:nvSpPr>
        <p:spPr>
          <a:xfrm>
            <a:off x="502920" y="3154680"/>
            <a:ext cx="5029200" cy="1188720"/>
          </a:xfrm>
          <a:prstGeom prst="roundRect">
            <a:avLst>
              <a:gd name="adj" fmla="val 7692"/>
            </a:avLst>
          </a:prstGeom>
          <a:solidFill>
            <a:srgbClr val="F1F5FB"/>
          </a:solidFill>
          <a:ln/>
          <a:effectLst>
            <a:outerShdw sx="100000" sy="100000" kx="0" ky="0" algn="bl" rotWithShape="0" blurRad="101600" dist="38100" dir="5400000">
              <a:srgbClr val="8090A8">
                <a:alpha val="30000"/>
              </a:srgbClr>
            </a:outerShdw>
          </a:effectLst>
        </p:spPr>
      </p:sp>
      <p:sp>
        <p:nvSpPr>
          <p:cNvPr id="8" name="Text 6"/>
          <p:cNvSpPr/>
          <p:nvPr/>
        </p:nvSpPr>
        <p:spPr>
          <a:xfrm>
            <a:off x="685800" y="3264408"/>
            <a:ext cx="1554480" cy="960120"/>
          </a:xfrm>
          <a:prstGeom prst="rect">
            <a:avLst/>
          </a:prstGeom>
          <a:noFill/>
          <a:ln/>
        </p:spPr>
        <p:txBody>
          <a:bodyPr wrap="square" lIns="0" tIns="0" rIns="0" bIns="0" rtlCol="0" anchor="ctr"/>
          <a:lstStyle/>
          <a:p>
            <a:pPr algn="ctr" indent="0" marL="0">
              <a:buNone/>
            </a:pPr>
            <a:r>
              <a:rPr lang="en-US" sz="4000" b="1" dirty="0">
                <a:solidFill>
                  <a:srgbClr val="2A78D6"/>
                </a:solidFill>
                <a:latin typeface="Cambria" pitchFamily="34" charset="0"/>
                <a:ea typeface="Cambria" pitchFamily="34" charset="-122"/>
                <a:cs typeface="Cambria" pitchFamily="34" charset="-120"/>
              </a:rPr>
              <a:t>0.77</a:t>
            </a:r>
            <a:endParaRPr lang="en-US" sz="4000" dirty="0"/>
          </a:p>
        </p:txBody>
      </p:sp>
      <p:sp>
        <p:nvSpPr>
          <p:cNvPr id="9" name="Text 7"/>
          <p:cNvSpPr/>
          <p:nvPr/>
        </p:nvSpPr>
        <p:spPr>
          <a:xfrm>
            <a:off x="2286000" y="3154680"/>
            <a:ext cx="3063240" cy="1188720"/>
          </a:xfrm>
          <a:prstGeom prst="rect">
            <a:avLst/>
          </a:prstGeom>
          <a:noFill/>
          <a:ln/>
        </p:spPr>
        <p:txBody>
          <a:bodyPr wrap="square" lIns="0" tIns="0" rIns="0" bIns="0" rtlCol="0" anchor="ctr"/>
          <a:lstStyle/>
          <a:p>
            <a:pPr indent="0" marL="0">
              <a:buNone/>
            </a:pPr>
            <a:r>
              <a:rPr lang="en-US" sz="1400" b="1" dirty="0">
                <a:solidFill>
                  <a:srgbClr val="22252E"/>
                </a:solidFill>
                <a:latin typeface="Calibri" pitchFamily="34" charset="0"/>
                <a:ea typeface="Calibri" pitchFamily="34" charset="-122"/>
                <a:cs typeface="Calibri" pitchFamily="34" charset="-120"/>
              </a:rPr>
              <a:t>ROC-AUC — 0.78 with the full 20-feature data</a:t>
            </a:r>
            <a:endParaRPr lang="en-US" sz="1400" dirty="0"/>
          </a:p>
        </p:txBody>
      </p:sp>
      <p:sp>
        <p:nvSpPr>
          <p:cNvPr id="10" name="Text 8"/>
          <p:cNvSpPr/>
          <p:nvPr/>
        </p:nvSpPr>
        <p:spPr>
          <a:xfrm>
            <a:off x="548640" y="4572000"/>
            <a:ext cx="5029200" cy="1554480"/>
          </a:xfrm>
          <a:prstGeom prst="rect">
            <a:avLst/>
          </a:prstGeom>
          <a:noFill/>
          <a:ln/>
        </p:spPr>
        <p:txBody>
          <a:bodyPr wrap="square" lIns="0" tIns="0" rIns="0" bIns="0" rtlCol="0" anchor="t"/>
          <a:lstStyle/>
          <a:p>
            <a:pPr marL="203200" indent="-203200">
              <a:spcAft>
                <a:spcPts val="900"/>
              </a:spcAft>
              <a:buSzPct val="100000"/>
              <a:buChar char="•"/>
            </a:pPr>
            <a:r>
              <a:rPr lang="en-US" sz="1350" dirty="0">
                <a:solidFill>
                  <a:srgbClr val="22252E"/>
                </a:solidFill>
              </a:rPr>
              <a:t>Three models compared: Logistic Regression, Decision Tree, Random Forest.</a:t>
            </a:r>
            <a:endParaRPr lang="en-US" sz="1350" dirty="0"/>
          </a:p>
          <a:p>
            <a:pPr marL="203200" indent="-203200">
              <a:spcAft>
                <a:spcPts val="900"/>
              </a:spcAft>
              <a:buSzPct val="100000"/>
              <a:buChar char="•"/>
            </a:pPr>
            <a:r>
              <a:rPr lang="en-US" sz="1350" dirty="0">
                <a:solidFill>
                  <a:srgbClr val="22252E"/>
                </a:solidFill>
              </a:rPr>
              <a:t>We checked for overfitting — and found a large train/validation gap.</a:t>
            </a:r>
            <a:endParaRPr lang="en-US" sz="1350" dirty="0"/>
          </a:p>
          <a:p>
            <a:pPr marL="203200" indent="-203200">
              <a:spcAft>
                <a:spcPts val="900"/>
              </a:spcAft>
              <a:buSzPct val="100000"/>
              <a:buChar char="•"/>
            </a:pPr>
            <a:r>
              <a:rPr lang="en-US" sz="1350" dirty="0">
                <a:solidFill>
                  <a:srgbClr val="22252E"/>
                </a:solidFill>
              </a:rPr>
              <a:t>We regularised the model: the gap fell from 0.17 to 0.07, and recall went UP.</a:t>
            </a:r>
            <a:endParaRPr lang="en-US" sz="1350" dirty="0"/>
          </a:p>
        </p:txBody>
      </p:sp>
      <p:sp>
        <p:nvSpPr>
          <p:cNvPr id="11" name="Shape 9"/>
          <p:cNvSpPr/>
          <p:nvPr/>
        </p:nvSpPr>
        <p:spPr>
          <a:xfrm>
            <a:off x="5852160" y="1737360"/>
            <a:ext cx="5897880" cy="3931920"/>
          </a:xfrm>
          <a:prstGeom prst="roundRect">
            <a:avLst>
              <a:gd name="adj" fmla="val 2326"/>
            </a:avLst>
          </a:prstGeom>
          <a:solidFill>
            <a:srgbClr val="FFFFFF"/>
          </a:solidFill>
          <a:ln/>
          <a:effectLst>
            <a:outerShdw sx="100000" sy="100000" kx="0" ky="0" algn="bl" rotWithShape="0" blurRad="101600" dist="38100" dir="5400000">
              <a:srgbClr val="8090A8">
                <a:alpha val="30000"/>
              </a:srgbClr>
            </a:outerShdw>
          </a:effectLst>
        </p:spPr>
      </p:sp>
      <p:pic>
        <p:nvPicPr>
          <p:cNvPr id="12" name="Image 0" descr="results/rf_regularisation.png">    </p:cNvPr>
          <p:cNvPicPr>
            <a:picLocks noChangeAspect="1"/>
          </p:cNvPicPr>
          <p:nvPr/>
        </p:nvPicPr>
        <p:blipFill>
          <a:blip r:embed="rId1"/>
          <a:srcRect l="0" r="0" t="0" b="0"/>
          <a:stretch/>
        </p:blipFill>
        <p:spPr>
          <a:xfrm>
            <a:off x="5989320" y="2194560"/>
            <a:ext cx="5623560" cy="2167128"/>
          </a:xfrm>
          <a:prstGeom prst="rect">
            <a:avLst/>
          </a:prstGeom>
        </p:spPr>
      </p:pic>
      <p:sp>
        <p:nvSpPr>
          <p:cNvPr id="13" name="Text 10"/>
          <p:cNvSpPr/>
          <p:nvPr/>
        </p:nvSpPr>
        <p:spPr>
          <a:xfrm>
            <a:off x="5989320" y="4526280"/>
            <a:ext cx="5623560" cy="36576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Before and after regularisation — the gap between the two lines is overfitting.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300" b="1" spc="200" kern="0" dirty="0">
                <a:solidFill>
                  <a:srgbClr val="2A78D6"/>
                </a:solidFill>
                <a:latin typeface="Calibri" pitchFamily="34" charset="0"/>
                <a:ea typeface="Calibri" pitchFamily="34" charset="-122"/>
                <a:cs typeface="Calibri" pitchFamily="34" charset="-120"/>
              </a:rPr>
              <a:t>WEEK 2 · FAIRNESS</a:t>
            </a:r>
            <a:endParaRPr lang="en-US" sz="13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indent="0" marL="0">
              <a:buNone/>
            </a:pPr>
            <a:r>
              <a:rPr lang="en-US" sz="3300" b="1" dirty="0">
                <a:solidFill>
                  <a:srgbClr val="22252E"/>
                </a:solidFill>
                <a:latin typeface="Cambria" pitchFamily="34" charset="0"/>
                <a:ea typeface="Cambria" pitchFamily="34" charset="-122"/>
                <a:cs typeface="Cambria" pitchFamily="34" charset="-120"/>
              </a:rPr>
              <a:t>We found real bias</a:t>
            </a:r>
            <a:endParaRPr lang="en-US" sz="3300" dirty="0"/>
          </a:p>
        </p:txBody>
      </p:sp>
      <p:sp>
        <p:nvSpPr>
          <p:cNvPr id="4" name="Text 2"/>
          <p:cNvSpPr/>
          <p:nvPr/>
        </p:nvSpPr>
        <p:spPr>
          <a:xfrm>
            <a:off x="548640" y="1783080"/>
            <a:ext cx="5120640" cy="329184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rgbClr val="22252E"/>
                </a:solidFill>
              </a:rPr>
              <a:t>AGE fails the 80% fairness rule badly — ratio 0.50.</a:t>
            </a:r>
            <a:endParaRPr lang="en-US" sz="1400" dirty="0"/>
          </a:p>
          <a:p>
            <a:pPr marL="203200" indent="-203200">
              <a:spcAft>
                <a:spcPts val="900"/>
              </a:spcAft>
              <a:buSzPct val="100000"/>
              <a:buChar char="•"/>
            </a:pPr>
            <a:r>
              <a:rPr lang="en-US" sz="1400" dirty="0">
                <a:solidFill>
                  <a:srgbClr val="22252E"/>
                </a:solidFill>
              </a:rPr>
              <a:t>A creditworthy applicant under 26 is wrongly denied 59% of the time — versus 29% for ages 26–60.</a:t>
            </a:r>
            <a:endParaRPr lang="en-US" sz="1400" dirty="0"/>
          </a:p>
          <a:p>
            <a:pPr marL="203200" indent="-203200">
              <a:spcAft>
                <a:spcPts val="900"/>
              </a:spcAft>
              <a:buSzPct val="100000"/>
              <a:buChar char="•"/>
            </a:pPr>
            <a:r>
              <a:rPr lang="en-US" sz="1400" dirty="0">
                <a:solidFill>
                  <a:srgbClr val="22252E"/>
                </a:solidFill>
              </a:rPr>
              <a:t>SEX is borderline (0.80): creditworthy women are denied more often than men.</a:t>
            </a:r>
            <a:endParaRPr lang="en-US" sz="1400" dirty="0"/>
          </a:p>
          <a:p>
            <a:pPr marL="203200" indent="-203200">
              <a:spcAft>
                <a:spcPts val="900"/>
              </a:spcAft>
              <a:buSzPct val="100000"/>
              <a:buChar char="•"/>
            </a:pPr>
            <a:r>
              <a:rPr lang="en-US" sz="1400" dirty="0">
                <a:solidFill>
                  <a:srgbClr val="22252E"/>
                </a:solidFill>
              </a:rPr>
              <a:t>FOREIGN WORKER fails too (0.71) — but this is only visible in the full 20-feature dataset.</a:t>
            </a:r>
            <a:endParaRPr lang="en-US" sz="1400" dirty="0"/>
          </a:p>
        </p:txBody>
      </p:sp>
      <p:sp>
        <p:nvSpPr>
          <p:cNvPr id="5" name="Shape 3"/>
          <p:cNvSpPr/>
          <p:nvPr/>
        </p:nvSpPr>
        <p:spPr>
          <a:xfrm>
            <a:off x="502920" y="5029200"/>
            <a:ext cx="5212080" cy="1097280"/>
          </a:xfrm>
          <a:prstGeom prst="roundRect">
            <a:avLst>
              <a:gd name="adj" fmla="val 8333"/>
            </a:avLst>
          </a:prstGeom>
          <a:solidFill>
            <a:srgbClr val="1E2761"/>
          </a:solidFill>
          <a:ln/>
          <a:effectLst>
            <a:outerShdw sx="100000" sy="100000" kx="0" ky="0" algn="bl" rotWithShape="0" blurRad="101600" dist="38100" dir="5400000">
              <a:srgbClr val="8090A8">
                <a:alpha val="30000"/>
              </a:srgbClr>
            </a:outerShdw>
          </a:effectLst>
        </p:spPr>
      </p:sp>
      <p:sp>
        <p:nvSpPr>
          <p:cNvPr id="6" name="Text 4"/>
          <p:cNvSpPr/>
          <p:nvPr/>
        </p:nvSpPr>
        <p:spPr>
          <a:xfrm>
            <a:off x="777240" y="5212080"/>
            <a:ext cx="475488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Dropping a sensitive column would have HIDDEN this bias — not removed it.</a:t>
            </a:r>
            <a:endParaRPr lang="en-US" sz="1400" dirty="0"/>
          </a:p>
        </p:txBody>
      </p:sp>
      <p:sp>
        <p:nvSpPr>
          <p:cNvPr id="7" name="Shape 5"/>
          <p:cNvSpPr/>
          <p:nvPr/>
        </p:nvSpPr>
        <p:spPr>
          <a:xfrm>
            <a:off x="5943600" y="1737360"/>
            <a:ext cx="5806440" cy="4389120"/>
          </a:xfrm>
          <a:prstGeom prst="roundRect">
            <a:avLst>
              <a:gd name="adj" fmla="val 2083"/>
            </a:avLst>
          </a:prstGeom>
          <a:solidFill>
            <a:srgbClr val="FFFFFF"/>
          </a:solidFill>
          <a:ln/>
          <a:effectLst>
            <a:outerShdw sx="100000" sy="100000" kx="0" ky="0" algn="bl" rotWithShape="0" blurRad="101600" dist="38100" dir="5400000">
              <a:srgbClr val="8090A8">
                <a:alpha val="30000"/>
              </a:srgbClr>
            </a:outerShdw>
          </a:effectLst>
        </p:spPr>
      </p:sp>
      <p:pic>
        <p:nvPicPr>
          <p:cNvPr id="8" name="Image 0" descr="results/fairness_group_metrics.png">    </p:cNvPr>
          <p:cNvPicPr>
            <a:picLocks noChangeAspect="1"/>
          </p:cNvPicPr>
          <p:nvPr/>
        </p:nvPicPr>
        <p:blipFill>
          <a:blip r:embed="rId1"/>
          <a:srcRect l="0" r="0" t="0" b="0"/>
          <a:stretch/>
        </p:blipFill>
        <p:spPr>
          <a:xfrm>
            <a:off x="6080760" y="2148840"/>
            <a:ext cx="5532120" cy="3291840"/>
          </a:xfrm>
          <a:prstGeom prst="rect">
            <a:avLst/>
          </a:prstGeom>
        </p:spPr>
      </p:pic>
      <p:sp>
        <p:nvSpPr>
          <p:cNvPr id="9" name="Text 6"/>
          <p:cNvSpPr/>
          <p:nvPr/>
        </p:nvSpPr>
        <p:spPr>
          <a:xfrm>
            <a:off x="6080760" y="5532120"/>
            <a:ext cx="5532120" cy="36576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Yellow = creditworthy people wrongly denied. Look at the under-26 bar.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300" b="1" spc="200" kern="0" dirty="0">
                <a:solidFill>
                  <a:srgbClr val="2A78D6"/>
                </a:solidFill>
                <a:latin typeface="Calibri" pitchFamily="34" charset="0"/>
                <a:ea typeface="Calibri" pitchFamily="34" charset="-122"/>
                <a:cs typeface="Calibri" pitchFamily="34" charset="-120"/>
              </a:rPr>
              <a:t>WEEK 3 · MITIGATION</a:t>
            </a:r>
            <a:endParaRPr lang="en-US" sz="13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indent="0" marL="0">
              <a:buNone/>
            </a:pPr>
            <a:r>
              <a:rPr lang="en-US" sz="3300" b="1" dirty="0">
                <a:solidFill>
                  <a:srgbClr val="22252E"/>
                </a:solidFill>
                <a:latin typeface="Cambria" pitchFamily="34" charset="0"/>
                <a:ea typeface="Cambria" pitchFamily="34" charset="-122"/>
                <a:cs typeface="Cambria" pitchFamily="34" charset="-120"/>
              </a:rPr>
              <a:t>We fixed it — and found where fixing breaks</a:t>
            </a:r>
            <a:endParaRPr lang="en-US" sz="3300" dirty="0"/>
          </a:p>
        </p:txBody>
      </p:sp>
      <p:sp>
        <p:nvSpPr>
          <p:cNvPr id="4" name="Shape 2"/>
          <p:cNvSpPr/>
          <p:nvPr/>
        </p:nvSpPr>
        <p:spPr>
          <a:xfrm>
            <a:off x="548640" y="1737360"/>
            <a:ext cx="3566160" cy="2286000"/>
          </a:xfrm>
          <a:prstGeom prst="roundRect">
            <a:avLst>
              <a:gd name="adj" fmla="val 4000"/>
            </a:avLst>
          </a:prstGeom>
          <a:solidFill>
            <a:srgbClr val="F1F5FB"/>
          </a:solidFill>
          <a:ln/>
          <a:effectLst>
            <a:outerShdw sx="100000" sy="100000" kx="0" ky="0" algn="bl" rotWithShape="0" blurRad="101600" dist="38100" dir="5400000">
              <a:srgbClr val="8090A8">
                <a:alpha val="30000"/>
              </a:srgbClr>
            </a:outerShdw>
          </a:effectLst>
        </p:spPr>
      </p:sp>
      <p:sp>
        <p:nvSpPr>
          <p:cNvPr id="5" name="Text 3"/>
          <p:cNvSpPr/>
          <p:nvPr/>
        </p:nvSpPr>
        <p:spPr>
          <a:xfrm>
            <a:off x="548640" y="1874520"/>
            <a:ext cx="3566160" cy="320040"/>
          </a:xfrm>
          <a:prstGeom prst="rect">
            <a:avLst/>
          </a:prstGeom>
          <a:noFill/>
          <a:ln/>
        </p:spPr>
        <p:txBody>
          <a:bodyPr wrap="square" lIns="0" tIns="0" rIns="0" bIns="0" rtlCol="0" anchor="ctr"/>
          <a:lstStyle/>
          <a:p>
            <a:pPr algn="ctr" indent="0" marL="0">
              <a:buNone/>
            </a:pPr>
            <a:r>
              <a:rPr lang="en-US" sz="1300" b="1" spc="200" kern="0" dirty="0">
                <a:solidFill>
                  <a:srgbClr val="2A78D6"/>
                </a:solidFill>
                <a:latin typeface="Calibri" pitchFamily="34" charset="0"/>
                <a:ea typeface="Calibri" pitchFamily="34" charset="-122"/>
                <a:cs typeface="Calibri" pitchFamily="34" charset="-120"/>
              </a:rPr>
              <a:t>SEX</a:t>
            </a:r>
            <a:endParaRPr lang="en-US" sz="1300" dirty="0"/>
          </a:p>
        </p:txBody>
      </p:sp>
      <p:sp>
        <p:nvSpPr>
          <p:cNvPr id="6" name="Text 4"/>
          <p:cNvSpPr/>
          <p:nvPr/>
        </p:nvSpPr>
        <p:spPr>
          <a:xfrm>
            <a:off x="548640" y="2240280"/>
            <a:ext cx="3566160" cy="914400"/>
          </a:xfrm>
          <a:prstGeom prst="rect">
            <a:avLst/>
          </a:prstGeom>
          <a:noFill/>
          <a:ln/>
        </p:spPr>
        <p:txBody>
          <a:bodyPr wrap="square" lIns="0" tIns="0" rIns="0" bIns="0" rtlCol="0" anchor="ctr"/>
          <a:lstStyle/>
          <a:p>
            <a:pPr algn="ctr" indent="0" marL="0">
              <a:buNone/>
            </a:pPr>
            <a:r>
              <a:rPr lang="en-US" sz="3400" b="1" dirty="0">
                <a:solidFill>
                  <a:srgbClr val="1BA37A"/>
                </a:solidFill>
                <a:latin typeface="Cambria" pitchFamily="34" charset="0"/>
                <a:ea typeface="Cambria" pitchFamily="34" charset="-122"/>
                <a:cs typeface="Cambria" pitchFamily="34" charset="-120"/>
              </a:rPr>
              <a:t>0.80 → 0.96</a:t>
            </a:r>
            <a:endParaRPr lang="en-US" sz="3400" dirty="0"/>
          </a:p>
        </p:txBody>
      </p:sp>
      <p:sp>
        <p:nvSpPr>
          <p:cNvPr id="7" name="Text 5"/>
          <p:cNvSpPr/>
          <p:nvPr/>
        </p:nvSpPr>
        <p:spPr>
          <a:xfrm>
            <a:off x="548640" y="3246120"/>
            <a:ext cx="3566160" cy="548640"/>
          </a:xfrm>
          <a:prstGeom prst="rect">
            <a:avLst/>
          </a:prstGeom>
          <a:noFill/>
          <a:ln/>
        </p:spPr>
        <p:txBody>
          <a:bodyPr wrap="square" lIns="0" tIns="0" rIns="0" bIns="0" rtlCol="0" anchor="ctr"/>
          <a:lstStyle/>
          <a:p>
            <a:pPr algn="ctr" indent="0" marL="0">
              <a:buNone/>
            </a:pPr>
            <a:r>
              <a:rPr lang="en-US" sz="1300" dirty="0">
                <a:solidFill>
                  <a:srgbClr val="22252E"/>
                </a:solidFill>
                <a:latin typeface="Calibri" pitchFamily="34" charset="0"/>
                <a:ea typeface="Calibri" pitchFamily="34" charset="-122"/>
                <a:cs typeface="Calibri" pitchFamily="34" charset="-120"/>
              </a:rPr>
              <a:t>now fair — at no accuracy cost</a:t>
            </a:r>
            <a:endParaRPr lang="en-US" sz="1300" dirty="0"/>
          </a:p>
        </p:txBody>
      </p:sp>
      <p:sp>
        <p:nvSpPr>
          <p:cNvPr id="8" name="Shape 6"/>
          <p:cNvSpPr/>
          <p:nvPr/>
        </p:nvSpPr>
        <p:spPr>
          <a:xfrm>
            <a:off x="4343400" y="1737360"/>
            <a:ext cx="3566160" cy="2286000"/>
          </a:xfrm>
          <a:prstGeom prst="roundRect">
            <a:avLst>
              <a:gd name="adj" fmla="val 4000"/>
            </a:avLst>
          </a:prstGeom>
          <a:solidFill>
            <a:srgbClr val="F1F5FB"/>
          </a:solidFill>
          <a:ln/>
          <a:effectLst>
            <a:outerShdw sx="100000" sy="100000" kx="0" ky="0" algn="bl" rotWithShape="0" blurRad="101600" dist="38100" dir="5400000">
              <a:srgbClr val="8090A8">
                <a:alpha val="30000"/>
              </a:srgbClr>
            </a:outerShdw>
          </a:effectLst>
        </p:spPr>
      </p:sp>
      <p:sp>
        <p:nvSpPr>
          <p:cNvPr id="9" name="Text 7"/>
          <p:cNvSpPr/>
          <p:nvPr/>
        </p:nvSpPr>
        <p:spPr>
          <a:xfrm>
            <a:off x="4343400" y="1874520"/>
            <a:ext cx="3566160" cy="320040"/>
          </a:xfrm>
          <a:prstGeom prst="rect">
            <a:avLst/>
          </a:prstGeom>
          <a:noFill/>
          <a:ln/>
        </p:spPr>
        <p:txBody>
          <a:bodyPr wrap="square" lIns="0" tIns="0" rIns="0" bIns="0" rtlCol="0" anchor="ctr"/>
          <a:lstStyle/>
          <a:p>
            <a:pPr algn="ctr" indent="0" marL="0">
              <a:buNone/>
            </a:pPr>
            <a:r>
              <a:rPr lang="en-US" sz="1300" b="1" spc="200" kern="0" dirty="0">
                <a:solidFill>
                  <a:srgbClr val="2A78D6"/>
                </a:solidFill>
                <a:latin typeface="Calibri" pitchFamily="34" charset="0"/>
                <a:ea typeface="Calibri" pitchFamily="34" charset="-122"/>
                <a:cs typeface="Calibri" pitchFamily="34" charset="-120"/>
              </a:rPr>
              <a:t>AGE</a:t>
            </a:r>
            <a:endParaRPr lang="en-US" sz="1300" dirty="0"/>
          </a:p>
        </p:txBody>
      </p:sp>
      <p:sp>
        <p:nvSpPr>
          <p:cNvPr id="10" name="Text 8"/>
          <p:cNvSpPr/>
          <p:nvPr/>
        </p:nvSpPr>
        <p:spPr>
          <a:xfrm>
            <a:off x="4343400" y="2240280"/>
            <a:ext cx="3566160" cy="914400"/>
          </a:xfrm>
          <a:prstGeom prst="rect">
            <a:avLst/>
          </a:prstGeom>
          <a:noFill/>
          <a:ln/>
        </p:spPr>
        <p:txBody>
          <a:bodyPr wrap="square" lIns="0" tIns="0" rIns="0" bIns="0" rtlCol="0" anchor="ctr"/>
          <a:lstStyle/>
          <a:p>
            <a:pPr algn="ctr" indent="0" marL="0">
              <a:buNone/>
            </a:pPr>
            <a:r>
              <a:rPr lang="en-US" sz="3400" b="1" dirty="0">
                <a:solidFill>
                  <a:srgbClr val="1BA37A"/>
                </a:solidFill>
                <a:latin typeface="Cambria" pitchFamily="34" charset="0"/>
                <a:ea typeface="Cambria" pitchFamily="34" charset="-122"/>
                <a:cs typeface="Cambria" pitchFamily="34" charset="-120"/>
              </a:rPr>
              <a:t>0.50 → 0.82</a:t>
            </a:r>
            <a:endParaRPr lang="en-US" sz="3400" dirty="0"/>
          </a:p>
        </p:txBody>
      </p:sp>
      <p:sp>
        <p:nvSpPr>
          <p:cNvPr id="11" name="Text 9"/>
          <p:cNvSpPr/>
          <p:nvPr/>
        </p:nvSpPr>
        <p:spPr>
          <a:xfrm>
            <a:off x="4343400" y="3246120"/>
            <a:ext cx="3566160" cy="548640"/>
          </a:xfrm>
          <a:prstGeom prst="rect">
            <a:avLst/>
          </a:prstGeom>
          <a:noFill/>
          <a:ln/>
        </p:spPr>
        <p:txBody>
          <a:bodyPr wrap="square" lIns="0" tIns="0" rIns="0" bIns="0" rtlCol="0" anchor="ctr"/>
          <a:lstStyle/>
          <a:p>
            <a:pPr algn="ctr" indent="0" marL="0">
              <a:buNone/>
            </a:pPr>
            <a:r>
              <a:rPr lang="en-US" sz="1300" dirty="0">
                <a:solidFill>
                  <a:srgbClr val="22252E"/>
                </a:solidFill>
                <a:latin typeface="Calibri" pitchFamily="34" charset="0"/>
                <a:ea typeface="Calibri" pitchFamily="34" charset="-122"/>
                <a:cs typeface="Calibri" pitchFamily="34" charset="-120"/>
              </a:rPr>
              <a:t>passes the 80% rule; young denials halved 59% → 29%</a:t>
            </a:r>
            <a:endParaRPr lang="en-US" sz="1300" dirty="0"/>
          </a:p>
        </p:txBody>
      </p:sp>
      <p:sp>
        <p:nvSpPr>
          <p:cNvPr id="12" name="Shape 10"/>
          <p:cNvSpPr/>
          <p:nvPr/>
        </p:nvSpPr>
        <p:spPr>
          <a:xfrm>
            <a:off x="8138160" y="1737360"/>
            <a:ext cx="3520440" cy="2286000"/>
          </a:xfrm>
          <a:prstGeom prst="roundRect">
            <a:avLst>
              <a:gd name="adj" fmla="val 4000"/>
            </a:avLst>
          </a:prstGeom>
          <a:solidFill>
            <a:srgbClr val="FBECEC"/>
          </a:solidFill>
          <a:ln/>
          <a:effectLst>
            <a:outerShdw sx="100000" sy="100000" kx="0" ky="0" algn="bl" rotWithShape="0" blurRad="101600" dist="38100" dir="5400000">
              <a:srgbClr val="8090A8">
                <a:alpha val="30000"/>
              </a:srgbClr>
            </a:outerShdw>
          </a:effectLst>
        </p:spPr>
      </p:sp>
      <p:sp>
        <p:nvSpPr>
          <p:cNvPr id="13" name="Text 11"/>
          <p:cNvSpPr/>
          <p:nvPr/>
        </p:nvSpPr>
        <p:spPr>
          <a:xfrm>
            <a:off x="8138160" y="1874520"/>
            <a:ext cx="3520440" cy="320040"/>
          </a:xfrm>
          <a:prstGeom prst="rect">
            <a:avLst/>
          </a:prstGeom>
          <a:noFill/>
          <a:ln/>
        </p:spPr>
        <p:txBody>
          <a:bodyPr wrap="square" lIns="0" tIns="0" rIns="0" bIns="0" rtlCol="0" anchor="ctr"/>
          <a:lstStyle/>
          <a:p>
            <a:pPr algn="ctr" indent="0" marL="0">
              <a:buNone/>
            </a:pPr>
            <a:r>
              <a:rPr lang="en-US" sz="1300" b="1" spc="100" kern="0" dirty="0">
                <a:solidFill>
                  <a:srgbClr val="D64545"/>
                </a:solidFill>
                <a:latin typeface="Calibri" pitchFamily="34" charset="0"/>
                <a:ea typeface="Calibri" pitchFamily="34" charset="-122"/>
                <a:cs typeface="Calibri" pitchFamily="34" charset="-120"/>
              </a:rPr>
              <a:t>FOREIGN WORKER</a:t>
            </a:r>
            <a:endParaRPr lang="en-US" sz="1300" dirty="0"/>
          </a:p>
        </p:txBody>
      </p:sp>
      <p:sp>
        <p:nvSpPr>
          <p:cNvPr id="14" name="Text 12"/>
          <p:cNvSpPr/>
          <p:nvPr/>
        </p:nvSpPr>
        <p:spPr>
          <a:xfrm>
            <a:off x="8138160" y="2240280"/>
            <a:ext cx="3520440" cy="685800"/>
          </a:xfrm>
          <a:prstGeom prst="rect">
            <a:avLst/>
          </a:prstGeom>
          <a:noFill/>
          <a:ln/>
        </p:spPr>
        <p:txBody>
          <a:bodyPr wrap="square" lIns="0" tIns="0" rIns="0" bIns="0" rtlCol="0" anchor="ctr"/>
          <a:lstStyle/>
          <a:p>
            <a:pPr algn="ctr" indent="0" marL="0">
              <a:buNone/>
            </a:pPr>
            <a:r>
              <a:rPr lang="en-US" sz="3000" b="1" dirty="0">
                <a:solidFill>
                  <a:srgbClr val="5A6472"/>
                </a:solidFill>
                <a:latin typeface="Cambria" pitchFamily="34" charset="0"/>
                <a:ea typeface="Cambria" pitchFamily="34" charset="-122"/>
                <a:cs typeface="Cambria" pitchFamily="34" charset="-120"/>
              </a:rPr>
              <a:t>0.71 → 0.93</a:t>
            </a:r>
            <a:endParaRPr lang="en-US" sz="3000" dirty="0"/>
          </a:p>
        </p:txBody>
      </p:sp>
      <p:sp>
        <p:nvSpPr>
          <p:cNvPr id="15" name="Text 13"/>
          <p:cNvSpPr/>
          <p:nvPr/>
        </p:nvSpPr>
        <p:spPr>
          <a:xfrm>
            <a:off x="8138160" y="3017520"/>
            <a:ext cx="3520440" cy="457200"/>
          </a:xfrm>
          <a:prstGeom prst="rect">
            <a:avLst/>
          </a:prstGeom>
          <a:noFill/>
          <a:ln/>
        </p:spPr>
        <p:txBody>
          <a:bodyPr wrap="square" lIns="0" tIns="0" rIns="0" bIns="0" rtlCol="0" anchor="ctr"/>
          <a:lstStyle/>
          <a:p>
            <a:pPr algn="ctr" indent="0" marL="0">
              <a:buNone/>
            </a:pPr>
            <a:r>
              <a:rPr lang="en-US" sz="1400" b="1" dirty="0">
                <a:solidFill>
                  <a:srgbClr val="D64545"/>
                </a:solidFill>
                <a:latin typeface="Calibri" pitchFamily="34" charset="0"/>
                <a:ea typeface="Calibri" pitchFamily="34" charset="-122"/>
                <a:cs typeface="Calibri" pitchFamily="34" charset="-120"/>
              </a:rPr>
              <a:t>BUT recall crashes 0.76 → 0.47</a:t>
            </a:r>
            <a:endParaRPr lang="en-US" sz="1400" dirty="0"/>
          </a:p>
        </p:txBody>
      </p:sp>
      <p:sp>
        <p:nvSpPr>
          <p:cNvPr id="16" name="Text 14"/>
          <p:cNvSpPr/>
          <p:nvPr/>
        </p:nvSpPr>
        <p:spPr>
          <a:xfrm>
            <a:off x="8138160" y="3474720"/>
            <a:ext cx="3520440" cy="365760"/>
          </a:xfrm>
          <a:prstGeom prst="rect">
            <a:avLst/>
          </a:prstGeom>
          <a:noFill/>
          <a:ln/>
        </p:spPr>
        <p:txBody>
          <a:bodyPr wrap="square" lIns="0" tIns="0" rIns="0" bIns="0" rtlCol="0" anchor="ctr"/>
          <a:lstStyle/>
          <a:p>
            <a:pPr algn="ctr" indent="0" marL="0">
              <a:buNone/>
            </a:pPr>
            <a:r>
              <a:rPr lang="en-US" sz="1200" dirty="0">
                <a:solidFill>
                  <a:srgbClr val="5A6472"/>
                </a:solidFill>
                <a:latin typeface="Calibri" pitchFamily="34" charset="0"/>
                <a:ea typeface="Calibri" pitchFamily="34" charset="-122"/>
                <a:cs typeface="Calibri" pitchFamily="34" charset="-120"/>
              </a:rPr>
              <a:t>they are 96% of applicants</a:t>
            </a:r>
            <a:endParaRPr lang="en-US" sz="1200" dirty="0"/>
          </a:p>
        </p:txBody>
      </p:sp>
      <p:sp>
        <p:nvSpPr>
          <p:cNvPr id="17" name="Shape 15"/>
          <p:cNvSpPr/>
          <p:nvPr/>
        </p:nvSpPr>
        <p:spPr>
          <a:xfrm>
            <a:off x="548640" y="4343400"/>
            <a:ext cx="11109960" cy="1600200"/>
          </a:xfrm>
          <a:prstGeom prst="roundRect">
            <a:avLst>
              <a:gd name="adj" fmla="val 5714"/>
            </a:avLst>
          </a:prstGeom>
          <a:solidFill>
            <a:srgbClr val="1E2761"/>
          </a:solidFill>
          <a:ln/>
          <a:effectLst>
            <a:outerShdw sx="100000" sy="100000" kx="0" ky="0" algn="bl" rotWithShape="0" blurRad="101600" dist="38100" dir="5400000">
              <a:srgbClr val="8090A8">
                <a:alpha val="30000"/>
              </a:srgbClr>
            </a:outerShdw>
          </a:effectLst>
        </p:spPr>
      </p:sp>
      <p:sp>
        <p:nvSpPr>
          <p:cNvPr id="18" name="Text 16"/>
          <p:cNvSpPr/>
          <p:nvPr/>
        </p:nvSpPr>
        <p:spPr>
          <a:xfrm>
            <a:off x="868680" y="4526280"/>
            <a:ext cx="10424160" cy="4572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Fairness mitigation is not always free.</a:t>
            </a:r>
            <a:endParaRPr lang="en-US" sz="2100" dirty="0"/>
          </a:p>
        </p:txBody>
      </p:sp>
      <p:sp>
        <p:nvSpPr>
          <p:cNvPr id="19" name="Text 17"/>
          <p:cNvSpPr/>
          <p:nvPr/>
        </p:nvSpPr>
        <p:spPr>
          <a:xfrm>
            <a:off x="868680" y="5029200"/>
            <a:ext cx="10424160" cy="77724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When the disadvantaged group is a tiny minority, a naive fix trades away the model's whole purpose. So we treat foreign-worker fairness as a POLICY decision — signed off by people — not an automatic switch. Knowing when NOT to auto-fix is the real skill.</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300" b="1" spc="200" kern="0" dirty="0">
                <a:solidFill>
                  <a:srgbClr val="2A78D6"/>
                </a:solidFill>
                <a:latin typeface="Calibri" pitchFamily="34" charset="0"/>
                <a:ea typeface="Calibri" pitchFamily="34" charset="-122"/>
                <a:cs typeface="Calibri" pitchFamily="34" charset="-120"/>
              </a:rPr>
              <a:t>EXPLAINABILITY</a:t>
            </a:r>
            <a:endParaRPr lang="en-US" sz="13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indent="0" marL="0">
              <a:buNone/>
            </a:pPr>
            <a:r>
              <a:rPr lang="en-US" sz="3300" b="1" dirty="0">
                <a:solidFill>
                  <a:srgbClr val="22252E"/>
                </a:solidFill>
                <a:latin typeface="Cambria" pitchFamily="34" charset="0"/>
                <a:ea typeface="Cambria" pitchFamily="34" charset="-122"/>
                <a:cs typeface="Cambria" pitchFamily="34" charset="-120"/>
              </a:rPr>
              <a:t>Why the decision — and how to change it</a:t>
            </a:r>
            <a:endParaRPr lang="en-US" sz="3300" dirty="0"/>
          </a:p>
        </p:txBody>
      </p:sp>
      <p:sp>
        <p:nvSpPr>
          <p:cNvPr id="4" name="Shape 2"/>
          <p:cNvSpPr/>
          <p:nvPr/>
        </p:nvSpPr>
        <p:spPr>
          <a:xfrm>
            <a:off x="502920" y="1737360"/>
            <a:ext cx="5394960" cy="4343400"/>
          </a:xfrm>
          <a:prstGeom prst="roundRect">
            <a:avLst>
              <a:gd name="adj" fmla="val 2105"/>
            </a:avLst>
          </a:prstGeom>
          <a:solidFill>
            <a:srgbClr val="FFFFFF"/>
          </a:solidFill>
          <a:ln/>
          <a:effectLst>
            <a:outerShdw sx="100000" sy="100000" kx="0" ky="0" algn="bl" rotWithShape="0" blurRad="101600" dist="38100" dir="5400000">
              <a:srgbClr val="8090A8">
                <a:alpha val="30000"/>
              </a:srgbClr>
            </a:outerShdw>
          </a:effectLst>
        </p:spPr>
      </p:sp>
      <p:pic>
        <p:nvPicPr>
          <p:cNvPr id="5" name="Image 0" descr="results/shap_local_denied.png">    </p:cNvPr>
          <p:cNvPicPr>
            <a:picLocks noChangeAspect="1"/>
          </p:cNvPicPr>
          <p:nvPr/>
        </p:nvPicPr>
        <p:blipFill>
          <a:blip r:embed="rId1"/>
          <a:srcRect l="0" r="0" t="0" b="0"/>
          <a:stretch/>
        </p:blipFill>
        <p:spPr>
          <a:xfrm>
            <a:off x="640080" y="1965960"/>
            <a:ext cx="5120640" cy="3657600"/>
          </a:xfrm>
          <a:prstGeom prst="rect">
            <a:avLst/>
          </a:prstGeom>
        </p:spPr>
      </p:pic>
      <p:sp>
        <p:nvSpPr>
          <p:cNvPr id="6" name="Text 3"/>
          <p:cNvSpPr/>
          <p:nvPr/>
        </p:nvSpPr>
        <p:spPr>
          <a:xfrm>
            <a:off x="640080" y="5669280"/>
            <a:ext cx="5120640" cy="32004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SHAP: why THIS applicant was declined.</a:t>
            </a:r>
            <a:endParaRPr lang="en-US" sz="1200" dirty="0"/>
          </a:p>
        </p:txBody>
      </p:sp>
      <p:sp>
        <p:nvSpPr>
          <p:cNvPr id="7" name="Text 4"/>
          <p:cNvSpPr/>
          <p:nvPr/>
        </p:nvSpPr>
        <p:spPr>
          <a:xfrm>
            <a:off x="6217920" y="1828800"/>
            <a:ext cx="5394960" cy="210312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rgbClr val="22252E"/>
                </a:solidFill>
              </a:rPr>
              <a:t>Globally the model is driven by financial signals — checking account, then loan duration.</a:t>
            </a:r>
            <a:endParaRPr lang="en-US" sz="1400" dirty="0"/>
          </a:p>
          <a:p>
            <a:pPr marL="203200" indent="-203200">
              <a:spcAft>
                <a:spcPts val="900"/>
              </a:spcAft>
              <a:buSzPct val="100000"/>
              <a:buChar char="•"/>
            </a:pPr>
            <a:r>
              <a:rPr lang="en-US" sz="1400" dirty="0">
                <a:solidFill>
                  <a:srgbClr val="22252E"/>
                </a:solidFill>
              </a:rPr>
              <a:t>Locally, SHAP explains ONE decision: 'declined because of low balances and a long term.' That is GDPR Article 22 made real.</a:t>
            </a:r>
            <a:endParaRPr lang="en-US" sz="1400" dirty="0"/>
          </a:p>
        </p:txBody>
      </p:sp>
      <p:sp>
        <p:nvSpPr>
          <p:cNvPr id="8" name="Shape 5"/>
          <p:cNvSpPr/>
          <p:nvPr/>
        </p:nvSpPr>
        <p:spPr>
          <a:xfrm>
            <a:off x="6172200" y="3931920"/>
            <a:ext cx="5486400" cy="2148840"/>
          </a:xfrm>
          <a:prstGeom prst="roundRect">
            <a:avLst>
              <a:gd name="adj" fmla="val 4255"/>
            </a:avLst>
          </a:prstGeom>
          <a:solidFill>
            <a:srgbClr val="1E2761"/>
          </a:solidFill>
          <a:ln/>
          <a:effectLst>
            <a:outerShdw sx="100000" sy="100000" kx="0" ky="0" algn="bl" rotWithShape="0" blurRad="101600" dist="38100" dir="5400000">
              <a:srgbClr val="8090A8">
                <a:alpha val="30000"/>
              </a:srgbClr>
            </a:outerShdw>
          </a:effectLst>
        </p:spPr>
      </p:sp>
      <p:sp>
        <p:nvSpPr>
          <p:cNvPr id="9" name="Text 6"/>
          <p:cNvSpPr/>
          <p:nvPr/>
        </p:nvSpPr>
        <p:spPr>
          <a:xfrm>
            <a:off x="6446520" y="4114800"/>
            <a:ext cx="4937760" cy="365760"/>
          </a:xfrm>
          <a:prstGeom prst="rect">
            <a:avLst/>
          </a:prstGeom>
          <a:noFill/>
          <a:ln/>
        </p:spPr>
        <p:txBody>
          <a:bodyPr wrap="square" lIns="0" tIns="0" rIns="0" bIns="0" rtlCol="0" anchor="ctr"/>
          <a:lstStyle/>
          <a:p>
            <a:pPr indent="0" marL="0">
              <a:buNone/>
            </a:pPr>
            <a:r>
              <a:rPr lang="en-US" sz="1500" b="1" dirty="0">
                <a:solidFill>
                  <a:srgbClr val="CADCFC"/>
                </a:solidFill>
                <a:latin typeface="Calibri" pitchFamily="34" charset="0"/>
                <a:ea typeface="Calibri" pitchFamily="34" charset="-122"/>
                <a:cs typeface="Calibri" pitchFamily="34" charset="-120"/>
              </a:rPr>
              <a:t>And we go one step further</a:t>
            </a:r>
            <a:endParaRPr lang="en-US" sz="1500" dirty="0"/>
          </a:p>
        </p:txBody>
      </p:sp>
      <p:sp>
        <p:nvSpPr>
          <p:cNvPr id="10" name="Text 7"/>
          <p:cNvSpPr/>
          <p:nvPr/>
        </p:nvSpPr>
        <p:spPr>
          <a:xfrm>
            <a:off x="6446520" y="4526280"/>
            <a:ext cx="4937760" cy="13716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Our app also tells the applicant HOW to get approved — e.g. 'reduce the loan from 8,000 to 6,000 DM'. A denial should come with a path, not just a reason.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300" b="1" spc="200" kern="0" dirty="0">
                <a:solidFill>
                  <a:srgbClr val="2A78D6"/>
                </a:solidFill>
                <a:latin typeface="Calibri" pitchFamily="34" charset="0"/>
                <a:ea typeface="Calibri" pitchFamily="34" charset="-122"/>
                <a:cs typeface="Calibri" pitchFamily="34" charset="-120"/>
              </a:rPr>
              <a:t>ROBUSTNESS &amp; SAFEGUARDS</a:t>
            </a:r>
            <a:endParaRPr lang="en-US" sz="13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indent="0" marL="0">
              <a:buNone/>
            </a:pPr>
            <a:r>
              <a:rPr lang="en-US" sz="3300" b="1" dirty="0">
                <a:solidFill>
                  <a:srgbClr val="22252E"/>
                </a:solidFill>
                <a:latin typeface="Cambria" pitchFamily="34" charset="0"/>
                <a:ea typeface="Cambria" pitchFamily="34" charset="-122"/>
                <a:cs typeface="Cambria" pitchFamily="34" charset="-120"/>
              </a:rPr>
              <a:t>Tested — and attacked</a:t>
            </a:r>
            <a:endParaRPr lang="en-US" sz="3300" dirty="0"/>
          </a:p>
        </p:txBody>
      </p:sp>
      <p:sp>
        <p:nvSpPr>
          <p:cNvPr id="4" name="Shape 2"/>
          <p:cNvSpPr/>
          <p:nvPr/>
        </p:nvSpPr>
        <p:spPr>
          <a:xfrm>
            <a:off x="502920" y="1783080"/>
            <a:ext cx="4937760" cy="1097280"/>
          </a:xfrm>
          <a:prstGeom prst="roundRect">
            <a:avLst>
              <a:gd name="adj" fmla="val 8333"/>
            </a:avLst>
          </a:prstGeom>
          <a:solidFill>
            <a:srgbClr val="F1F5FB"/>
          </a:solidFill>
          <a:ln/>
          <a:effectLst>
            <a:outerShdw sx="100000" sy="100000" kx="0" ky="0" algn="bl" rotWithShape="0" blurRad="101600" dist="38100" dir="5400000">
              <a:srgbClr val="8090A8">
                <a:alpha val="30000"/>
              </a:srgbClr>
            </a:outerShdw>
          </a:effectLst>
        </p:spPr>
      </p:sp>
      <p:sp>
        <p:nvSpPr>
          <p:cNvPr id="5" name="Text 3"/>
          <p:cNvSpPr/>
          <p:nvPr/>
        </p:nvSpPr>
        <p:spPr>
          <a:xfrm>
            <a:off x="685800" y="1874520"/>
            <a:ext cx="1554480" cy="914400"/>
          </a:xfrm>
          <a:prstGeom prst="rect">
            <a:avLst/>
          </a:prstGeom>
          <a:noFill/>
          <a:ln/>
        </p:spPr>
        <p:txBody>
          <a:bodyPr wrap="square" lIns="0" tIns="0" rIns="0" bIns="0" rtlCol="0" anchor="ctr"/>
          <a:lstStyle/>
          <a:p>
            <a:pPr algn="ctr" indent="0" marL="0">
              <a:buNone/>
            </a:pPr>
            <a:r>
              <a:rPr lang="en-US" sz="3600" b="1" dirty="0">
                <a:solidFill>
                  <a:srgbClr val="1BA37A"/>
                </a:solidFill>
                <a:latin typeface="Cambria" pitchFamily="34" charset="0"/>
                <a:ea typeface="Cambria" pitchFamily="34" charset="-122"/>
                <a:cs typeface="Cambria" pitchFamily="34" charset="-120"/>
              </a:rPr>
              <a:t>43</a:t>
            </a:r>
            <a:endParaRPr lang="en-US" sz="3600" dirty="0"/>
          </a:p>
        </p:txBody>
      </p:sp>
      <p:sp>
        <p:nvSpPr>
          <p:cNvPr id="6" name="Text 4"/>
          <p:cNvSpPr/>
          <p:nvPr/>
        </p:nvSpPr>
        <p:spPr>
          <a:xfrm>
            <a:off x="2286000" y="1783080"/>
            <a:ext cx="3017520" cy="1097280"/>
          </a:xfrm>
          <a:prstGeom prst="rect">
            <a:avLst/>
          </a:prstGeom>
          <a:noFill/>
          <a:ln/>
        </p:spPr>
        <p:txBody>
          <a:bodyPr wrap="square" lIns="0" tIns="0" rIns="0" bIns="0" rtlCol="0" anchor="ctr"/>
          <a:lstStyle/>
          <a:p>
            <a:pPr indent="0" marL="0">
              <a:buNone/>
            </a:pPr>
            <a:r>
              <a:rPr lang="en-US" sz="1450" b="1" dirty="0">
                <a:solidFill>
                  <a:srgbClr val="22252E"/>
                </a:solidFill>
                <a:latin typeface="Calibri" pitchFamily="34" charset="0"/>
                <a:ea typeface="Calibri" pitchFamily="34" charset="-122"/>
                <a:cs typeface="Calibri" pitchFamily="34" charset="-120"/>
              </a:rPr>
              <a:t>automated tests</a:t>
            </a:r>
            <a:endParaRPr lang="en-US" sz="1450" dirty="0"/>
          </a:p>
        </p:txBody>
      </p:sp>
      <p:sp>
        <p:nvSpPr>
          <p:cNvPr id="7" name="Shape 5"/>
          <p:cNvSpPr/>
          <p:nvPr/>
        </p:nvSpPr>
        <p:spPr>
          <a:xfrm>
            <a:off x="502920" y="3063240"/>
            <a:ext cx="4937760" cy="1097280"/>
          </a:xfrm>
          <a:prstGeom prst="roundRect">
            <a:avLst>
              <a:gd name="adj" fmla="val 8333"/>
            </a:avLst>
          </a:prstGeom>
          <a:solidFill>
            <a:srgbClr val="F1F5FB"/>
          </a:solidFill>
          <a:ln/>
          <a:effectLst>
            <a:outerShdw sx="100000" sy="100000" kx="0" ky="0" algn="bl" rotWithShape="0" blurRad="101600" dist="38100" dir="5400000">
              <a:srgbClr val="8090A8">
                <a:alpha val="30000"/>
              </a:srgbClr>
            </a:outerShdw>
          </a:effectLst>
        </p:spPr>
      </p:sp>
      <p:sp>
        <p:nvSpPr>
          <p:cNvPr id="8" name="Text 6"/>
          <p:cNvSpPr/>
          <p:nvPr/>
        </p:nvSpPr>
        <p:spPr>
          <a:xfrm>
            <a:off x="685800" y="3154680"/>
            <a:ext cx="1554480" cy="914400"/>
          </a:xfrm>
          <a:prstGeom prst="rect">
            <a:avLst/>
          </a:prstGeom>
          <a:noFill/>
          <a:ln/>
        </p:spPr>
        <p:txBody>
          <a:bodyPr wrap="square" lIns="0" tIns="0" rIns="0" bIns="0" rtlCol="0" anchor="ctr"/>
          <a:lstStyle/>
          <a:p>
            <a:pPr algn="ctr" indent="0" marL="0">
              <a:buNone/>
            </a:pPr>
            <a:r>
              <a:rPr lang="en-US" sz="3600" b="1" dirty="0">
                <a:solidFill>
                  <a:srgbClr val="2A78D6"/>
                </a:solidFill>
                <a:latin typeface="Cambria" pitchFamily="34" charset="0"/>
                <a:ea typeface="Cambria" pitchFamily="34" charset="-122"/>
                <a:cs typeface="Cambria" pitchFamily="34" charset="-120"/>
              </a:rPr>
              <a:t>99%</a:t>
            </a:r>
            <a:endParaRPr lang="en-US" sz="3600" dirty="0"/>
          </a:p>
        </p:txBody>
      </p:sp>
      <p:sp>
        <p:nvSpPr>
          <p:cNvPr id="9" name="Text 7"/>
          <p:cNvSpPr/>
          <p:nvPr/>
        </p:nvSpPr>
        <p:spPr>
          <a:xfrm>
            <a:off x="2286000" y="3063240"/>
            <a:ext cx="3017520" cy="1097280"/>
          </a:xfrm>
          <a:prstGeom prst="rect">
            <a:avLst/>
          </a:prstGeom>
          <a:noFill/>
          <a:ln/>
        </p:spPr>
        <p:txBody>
          <a:bodyPr wrap="square" lIns="0" tIns="0" rIns="0" bIns="0" rtlCol="0" anchor="ctr"/>
          <a:lstStyle/>
          <a:p>
            <a:pPr indent="0" marL="0">
              <a:buNone/>
            </a:pPr>
            <a:r>
              <a:rPr lang="en-US" sz="1450" b="1" dirty="0">
                <a:solidFill>
                  <a:srgbClr val="22252E"/>
                </a:solidFill>
                <a:latin typeface="Calibri" pitchFamily="34" charset="0"/>
                <a:ea typeface="Calibri" pitchFamily="34" charset="-122"/>
                <a:cs typeface="Calibri" pitchFamily="34" charset="-120"/>
              </a:rPr>
              <a:t>code coverage (enforced ≥80%)</a:t>
            </a:r>
            <a:endParaRPr lang="en-US" sz="1450" dirty="0"/>
          </a:p>
        </p:txBody>
      </p:sp>
      <p:sp>
        <p:nvSpPr>
          <p:cNvPr id="10" name="Text 8"/>
          <p:cNvSpPr/>
          <p:nvPr/>
        </p:nvSpPr>
        <p:spPr>
          <a:xfrm>
            <a:off x="548640" y="4434840"/>
            <a:ext cx="4937760" cy="1828800"/>
          </a:xfrm>
          <a:prstGeom prst="rect">
            <a:avLst/>
          </a:prstGeom>
          <a:noFill/>
          <a:ln/>
        </p:spPr>
        <p:txBody>
          <a:bodyPr wrap="square" lIns="0" tIns="0" rIns="0" bIns="0" rtlCol="0" anchor="t"/>
          <a:lstStyle/>
          <a:p>
            <a:pPr marL="203200" indent="-203200">
              <a:spcAft>
                <a:spcPts val="900"/>
              </a:spcAft>
              <a:buSzPct val="100000"/>
              <a:buChar char="•"/>
            </a:pPr>
            <a:r>
              <a:rPr lang="en-US" sz="1300" dirty="0">
                <a:solidFill>
                  <a:srgbClr val="22252E"/>
                </a:solidFill>
              </a:rPr>
              <a:t>Tests check correctness, not just that code runs — e.g. shrinking a loan can never LOWER approval odds.</a:t>
            </a:r>
            <a:endParaRPr lang="en-US" sz="1300" dirty="0"/>
          </a:p>
          <a:p>
            <a:pPr marL="203200" indent="-203200">
              <a:spcAft>
                <a:spcPts val="900"/>
              </a:spcAft>
              <a:buSzPct val="100000"/>
              <a:buChar char="•"/>
            </a:pPr>
            <a:r>
              <a:rPr lang="en-US" sz="1300" dirty="0">
                <a:solidFill>
                  <a:srgbClr val="22252E"/>
                </a:solidFill>
              </a:rPr>
              <a:t>Privacy: we tested whether anyone can tell if a person was in our training data. Attack AUC 0.53 — barely better than a coin flip.</a:t>
            </a:r>
            <a:endParaRPr lang="en-US" sz="1300" dirty="0"/>
          </a:p>
          <a:p>
            <a:pPr marL="203200" indent="-203200">
              <a:spcAft>
                <a:spcPts val="900"/>
              </a:spcAft>
              <a:buSzPct val="100000"/>
              <a:buChar char="•"/>
            </a:pPr>
            <a:r>
              <a:rPr lang="en-US" sz="1300" dirty="0">
                <a:solidFill>
                  <a:srgbClr val="22252E"/>
                </a:solidFill>
              </a:rPr>
              <a:t>Human-in-the-loop, every decision logged with its explanation.</a:t>
            </a:r>
            <a:endParaRPr lang="en-US" sz="1300" dirty="0"/>
          </a:p>
        </p:txBody>
      </p:sp>
      <p:sp>
        <p:nvSpPr>
          <p:cNvPr id="11" name="Shape 9"/>
          <p:cNvSpPr/>
          <p:nvPr/>
        </p:nvSpPr>
        <p:spPr>
          <a:xfrm>
            <a:off x="5806440" y="1737360"/>
            <a:ext cx="5943600" cy="2834640"/>
          </a:xfrm>
          <a:prstGeom prst="roundRect">
            <a:avLst>
              <a:gd name="adj" fmla="val 3226"/>
            </a:avLst>
          </a:prstGeom>
          <a:solidFill>
            <a:srgbClr val="FFFFFF"/>
          </a:solidFill>
          <a:ln/>
          <a:effectLst>
            <a:outerShdw sx="100000" sy="100000" kx="0" ky="0" algn="bl" rotWithShape="0" blurRad="101600" dist="38100" dir="5400000">
              <a:srgbClr val="8090A8">
                <a:alpha val="30000"/>
              </a:srgbClr>
            </a:outerShdw>
          </a:effectLst>
        </p:spPr>
      </p:sp>
      <p:pic>
        <p:nvPicPr>
          <p:cNvPr id="12" name="Image 0" descr="results/adversarial_summary.png">    </p:cNvPr>
          <p:cNvPicPr>
            <a:picLocks noChangeAspect="1"/>
          </p:cNvPicPr>
          <p:nvPr/>
        </p:nvPicPr>
        <p:blipFill>
          <a:blip r:embed="rId1"/>
          <a:srcRect l="0" r="0" t="0" b="0"/>
          <a:stretch/>
        </p:blipFill>
        <p:spPr>
          <a:xfrm>
            <a:off x="5943600" y="2148840"/>
            <a:ext cx="5669280" cy="2002536"/>
          </a:xfrm>
          <a:prstGeom prst="rect">
            <a:avLst/>
          </a:prstGeom>
        </p:spPr>
      </p:pic>
      <p:sp>
        <p:nvSpPr>
          <p:cNvPr id="13" name="Text 10"/>
          <p:cNvSpPr/>
          <p:nvPr/>
        </p:nvSpPr>
        <p:spPr>
          <a:xfrm>
            <a:off x="5943600" y="4206240"/>
            <a:ext cx="5669280" cy="32004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We attacked our own model: poisoning, gaming and privacy.</a:t>
            </a:r>
            <a:endParaRPr lang="en-US" sz="1200" dirty="0"/>
          </a:p>
        </p:txBody>
      </p:sp>
      <p:sp>
        <p:nvSpPr>
          <p:cNvPr id="14" name="Shape 11"/>
          <p:cNvSpPr/>
          <p:nvPr/>
        </p:nvSpPr>
        <p:spPr>
          <a:xfrm>
            <a:off x="5806440" y="4800600"/>
            <a:ext cx="5943600" cy="1371600"/>
          </a:xfrm>
          <a:prstGeom prst="roundRect">
            <a:avLst>
              <a:gd name="adj" fmla="val 6667"/>
            </a:avLst>
          </a:prstGeom>
          <a:solidFill>
            <a:srgbClr val="1E2761"/>
          </a:solidFill>
          <a:ln/>
          <a:effectLst>
            <a:outerShdw sx="100000" sy="100000" kx="0" ky="0" algn="bl" rotWithShape="0" blurRad="101600" dist="38100" dir="5400000">
              <a:srgbClr val="8090A8">
                <a:alpha val="30000"/>
              </a:srgbClr>
            </a:outerShdw>
          </a:effectLst>
        </p:spPr>
      </p:sp>
      <p:sp>
        <p:nvSpPr>
          <p:cNvPr id="15" name="Text 12"/>
          <p:cNvSpPr/>
          <p:nvPr/>
        </p:nvSpPr>
        <p:spPr>
          <a:xfrm>
            <a:off x="6035040" y="4937760"/>
            <a:ext cx="1554480" cy="1097280"/>
          </a:xfrm>
          <a:prstGeom prst="rect">
            <a:avLst/>
          </a:prstGeom>
          <a:noFill/>
          <a:ln/>
        </p:spPr>
        <p:txBody>
          <a:bodyPr wrap="square" lIns="0" tIns="0" rIns="0" bIns="0" rtlCol="0" anchor="ctr"/>
          <a:lstStyle/>
          <a:p>
            <a:pPr algn="ctr" indent="0" marL="0">
              <a:buNone/>
            </a:pPr>
            <a:r>
              <a:rPr lang="en-US" sz="3600" b="1" dirty="0">
                <a:solidFill>
                  <a:srgbClr val="CADCFC"/>
                </a:solidFill>
                <a:latin typeface="Cambria" pitchFamily="34" charset="0"/>
                <a:ea typeface="Cambria" pitchFamily="34" charset="-122"/>
                <a:cs typeface="Cambria" pitchFamily="34" charset="-120"/>
              </a:rPr>
              <a:t>41%</a:t>
            </a:r>
            <a:endParaRPr lang="en-US" sz="3600" dirty="0"/>
          </a:p>
        </p:txBody>
      </p:sp>
      <p:sp>
        <p:nvSpPr>
          <p:cNvPr id="16" name="Text 13"/>
          <p:cNvSpPr/>
          <p:nvPr/>
        </p:nvSpPr>
        <p:spPr>
          <a:xfrm>
            <a:off x="7680960" y="4800600"/>
            <a:ext cx="3886200" cy="13716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of rejected applicants could game their way to 'approved' just by asking for a smaller loan — a real risk a bank must know.</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011680" y="3840480"/>
            <a:ext cx="5669280" cy="5669280"/>
          </a:xfrm>
          <a:prstGeom prst="ellipse">
            <a:avLst/>
          </a:prstGeom>
          <a:solidFill>
            <a:srgbClr val="141A45"/>
          </a:solidFill>
          <a:ln/>
        </p:spPr>
      </p:sp>
      <p:sp>
        <p:nvSpPr>
          <p:cNvPr id="3" name="Text 1"/>
          <p:cNvSpPr/>
          <p:nvPr/>
        </p:nvSpPr>
        <p:spPr>
          <a:xfrm>
            <a:off x="640080" y="822960"/>
            <a:ext cx="10972800" cy="365760"/>
          </a:xfrm>
          <a:prstGeom prst="rect">
            <a:avLst/>
          </a:prstGeom>
          <a:noFill/>
          <a:ln/>
        </p:spPr>
        <p:txBody>
          <a:bodyPr wrap="square" lIns="0" tIns="0" rIns="0" bIns="0" rtlCol="0" anchor="ctr"/>
          <a:lstStyle/>
          <a:p>
            <a:pPr indent="0" marL="0">
              <a:buNone/>
            </a:pPr>
            <a:r>
              <a:rPr lang="en-US" sz="1500" b="1" spc="200" kern="0" dirty="0">
                <a:solidFill>
                  <a:srgbClr val="CADCFC"/>
                </a:solidFill>
                <a:latin typeface="Calibri" pitchFamily="34" charset="0"/>
                <a:ea typeface="Calibri" pitchFamily="34" charset="-122"/>
                <a:cs typeface="Calibri" pitchFamily="34" charset="-120"/>
              </a:rPr>
              <a:t>FROM A MODEL TO A DEPLOYABLE SYSTEM</a:t>
            </a:r>
            <a:endParaRPr lang="en-US" sz="1500" dirty="0"/>
          </a:p>
        </p:txBody>
      </p:sp>
      <p:sp>
        <p:nvSpPr>
          <p:cNvPr id="4" name="Text 2"/>
          <p:cNvSpPr/>
          <p:nvPr/>
        </p:nvSpPr>
        <p:spPr>
          <a:xfrm>
            <a:off x="640080" y="1188720"/>
            <a:ext cx="109728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makes this different</a:t>
            </a:r>
            <a:endParaRPr lang="en-US" sz="3400" dirty="0"/>
          </a:p>
        </p:txBody>
      </p:sp>
      <p:sp>
        <p:nvSpPr>
          <p:cNvPr id="5" name="Shape 3"/>
          <p:cNvSpPr/>
          <p:nvPr/>
        </p:nvSpPr>
        <p:spPr>
          <a:xfrm>
            <a:off x="640080" y="2286000"/>
            <a:ext cx="3566160" cy="1874520"/>
          </a:xfrm>
          <a:prstGeom prst="roundRect">
            <a:avLst>
              <a:gd name="adj" fmla="val 4878"/>
            </a:avLst>
          </a:prstGeom>
          <a:solidFill>
            <a:srgbClr val="141A45"/>
          </a:solidFill>
          <a:ln/>
          <a:effectLst>
            <a:outerShdw sx="100000" sy="100000" kx="0" ky="0" algn="bl" rotWithShape="0" blurRad="101600" dist="38100" dir="5400000">
              <a:srgbClr val="8090A8">
                <a:alpha val="30000"/>
              </a:srgbClr>
            </a:outerShdw>
          </a:effectLst>
        </p:spPr>
      </p:sp>
      <p:sp>
        <p:nvSpPr>
          <p:cNvPr id="6" name="Shape 4"/>
          <p:cNvSpPr/>
          <p:nvPr/>
        </p:nvSpPr>
        <p:spPr>
          <a:xfrm>
            <a:off x="914400" y="2542032"/>
            <a:ext cx="292608" cy="292608"/>
          </a:xfrm>
          <a:prstGeom prst="ellipse">
            <a:avLst/>
          </a:prstGeom>
          <a:solidFill>
            <a:srgbClr val="1BA37A"/>
          </a:solidFill>
          <a:ln/>
        </p:spPr>
      </p:sp>
      <p:sp>
        <p:nvSpPr>
          <p:cNvPr id="7" name="Text 5"/>
          <p:cNvSpPr/>
          <p:nvPr/>
        </p:nvSpPr>
        <p:spPr>
          <a:xfrm>
            <a:off x="1325880" y="2468880"/>
            <a:ext cx="2743200" cy="4572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Performant</a:t>
            </a:r>
            <a:endParaRPr lang="en-US" sz="2100" dirty="0"/>
          </a:p>
        </p:txBody>
      </p:sp>
      <p:sp>
        <p:nvSpPr>
          <p:cNvPr id="8" name="Text 6"/>
          <p:cNvSpPr/>
          <p:nvPr/>
        </p:nvSpPr>
        <p:spPr>
          <a:xfrm>
            <a:off x="914400" y="3017520"/>
            <a:ext cx="3063240" cy="105156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Catches 75% of bad credit — the metric a lender actually pays for.</a:t>
            </a:r>
            <a:endParaRPr lang="en-US" sz="1350" dirty="0"/>
          </a:p>
        </p:txBody>
      </p:sp>
      <p:sp>
        <p:nvSpPr>
          <p:cNvPr id="9" name="Shape 7"/>
          <p:cNvSpPr/>
          <p:nvPr/>
        </p:nvSpPr>
        <p:spPr>
          <a:xfrm>
            <a:off x="4434840" y="2286000"/>
            <a:ext cx="3566160" cy="1874520"/>
          </a:xfrm>
          <a:prstGeom prst="roundRect">
            <a:avLst>
              <a:gd name="adj" fmla="val 4878"/>
            </a:avLst>
          </a:prstGeom>
          <a:solidFill>
            <a:srgbClr val="141A45"/>
          </a:solidFill>
          <a:ln/>
          <a:effectLst>
            <a:outerShdw sx="100000" sy="100000" kx="0" ky="0" algn="bl" rotWithShape="0" blurRad="101600" dist="38100" dir="5400000">
              <a:srgbClr val="8090A8">
                <a:alpha val="30000"/>
              </a:srgbClr>
            </a:outerShdw>
          </a:effectLst>
        </p:spPr>
      </p:sp>
      <p:sp>
        <p:nvSpPr>
          <p:cNvPr id="10" name="Shape 8"/>
          <p:cNvSpPr/>
          <p:nvPr/>
        </p:nvSpPr>
        <p:spPr>
          <a:xfrm>
            <a:off x="4709160" y="2542032"/>
            <a:ext cx="292608" cy="292608"/>
          </a:xfrm>
          <a:prstGeom prst="ellipse">
            <a:avLst/>
          </a:prstGeom>
          <a:solidFill>
            <a:srgbClr val="2A78D6"/>
          </a:solidFill>
          <a:ln/>
        </p:spPr>
      </p:sp>
      <p:sp>
        <p:nvSpPr>
          <p:cNvPr id="11" name="Text 9"/>
          <p:cNvSpPr/>
          <p:nvPr/>
        </p:nvSpPr>
        <p:spPr>
          <a:xfrm>
            <a:off x="5120640" y="2468880"/>
            <a:ext cx="2743200" cy="4572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Fair</a:t>
            </a:r>
            <a:endParaRPr lang="en-US" sz="2100" dirty="0"/>
          </a:p>
        </p:txBody>
      </p:sp>
      <p:sp>
        <p:nvSpPr>
          <p:cNvPr id="12" name="Text 10"/>
          <p:cNvSpPr/>
          <p:nvPr/>
        </p:nvSpPr>
        <p:spPr>
          <a:xfrm>
            <a:off x="4709160" y="3017520"/>
            <a:ext cx="3063240" cy="105156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Bias found, measured and mitigated — and we say where the fix breaks.</a:t>
            </a:r>
            <a:endParaRPr lang="en-US" sz="1350" dirty="0"/>
          </a:p>
        </p:txBody>
      </p:sp>
      <p:sp>
        <p:nvSpPr>
          <p:cNvPr id="13" name="Shape 11"/>
          <p:cNvSpPr/>
          <p:nvPr/>
        </p:nvSpPr>
        <p:spPr>
          <a:xfrm>
            <a:off x="8229600" y="2286000"/>
            <a:ext cx="3566160" cy="1874520"/>
          </a:xfrm>
          <a:prstGeom prst="roundRect">
            <a:avLst>
              <a:gd name="adj" fmla="val 4878"/>
            </a:avLst>
          </a:prstGeom>
          <a:solidFill>
            <a:srgbClr val="141A45"/>
          </a:solidFill>
          <a:ln/>
          <a:effectLst>
            <a:outerShdw sx="100000" sy="100000" kx="0" ky="0" algn="bl" rotWithShape="0" blurRad="101600" dist="38100" dir="5400000">
              <a:srgbClr val="8090A8">
                <a:alpha val="30000"/>
              </a:srgbClr>
            </a:outerShdw>
          </a:effectLst>
        </p:spPr>
      </p:sp>
      <p:sp>
        <p:nvSpPr>
          <p:cNvPr id="14" name="Shape 12"/>
          <p:cNvSpPr/>
          <p:nvPr/>
        </p:nvSpPr>
        <p:spPr>
          <a:xfrm>
            <a:off x="8503920" y="2542032"/>
            <a:ext cx="292608" cy="292608"/>
          </a:xfrm>
          <a:prstGeom prst="ellipse">
            <a:avLst/>
          </a:prstGeom>
          <a:solidFill>
            <a:srgbClr val="7A54B0"/>
          </a:solidFill>
          <a:ln/>
        </p:spPr>
      </p:sp>
      <p:sp>
        <p:nvSpPr>
          <p:cNvPr id="15" name="Text 13"/>
          <p:cNvSpPr/>
          <p:nvPr/>
        </p:nvSpPr>
        <p:spPr>
          <a:xfrm>
            <a:off x="8915400" y="2468880"/>
            <a:ext cx="2743200" cy="4572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Accountable</a:t>
            </a:r>
            <a:endParaRPr lang="en-US" sz="2100" dirty="0"/>
          </a:p>
        </p:txBody>
      </p:sp>
      <p:sp>
        <p:nvSpPr>
          <p:cNvPr id="16" name="Text 14"/>
          <p:cNvSpPr/>
          <p:nvPr/>
        </p:nvSpPr>
        <p:spPr>
          <a:xfrm>
            <a:off x="8503920" y="3017520"/>
            <a:ext cx="3063240" cy="105156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Explainable, attack-tested, human-in-the-loop, fully documented.</a:t>
            </a:r>
            <a:endParaRPr lang="en-US" sz="1350" dirty="0"/>
          </a:p>
        </p:txBody>
      </p:sp>
      <p:sp>
        <p:nvSpPr>
          <p:cNvPr id="17" name="Text 15"/>
          <p:cNvSpPr/>
          <p:nvPr/>
        </p:nvSpPr>
        <p:spPr>
          <a:xfrm>
            <a:off x="640080" y="4526280"/>
            <a:ext cx="10972800" cy="640080"/>
          </a:xfrm>
          <a:prstGeom prst="rect">
            <a:avLst/>
          </a:prstGeom>
          <a:noFill/>
          <a:ln/>
        </p:spPr>
        <p:txBody>
          <a:bodyPr wrap="square" lIns="0" tIns="0" rIns="0" bIns="0" rtlCol="0" anchor="ctr"/>
          <a:lstStyle/>
          <a:p>
            <a:pPr indent="0" marL="0">
              <a:buNone/>
            </a:pPr>
            <a:r>
              <a:rPr lang="en-US" sz="1900" b="1" i="1" dirty="0">
                <a:solidFill>
                  <a:srgbClr val="FFFFFF"/>
                </a:solidFill>
                <a:latin typeface="Cambria" pitchFamily="34" charset="0"/>
                <a:ea typeface="Cambria" pitchFamily="34" charset="-122"/>
                <a:cs typeface="Cambria" pitchFamily="34" charset="-120"/>
              </a:rPr>
              <a:t>A bank can deploy this without regulatory or reputational blowback — because we found the problems before a regulator would.</a:t>
            </a:r>
            <a:endParaRPr lang="en-US" sz="1900" dirty="0"/>
          </a:p>
        </p:txBody>
      </p:sp>
      <p:sp>
        <p:nvSpPr>
          <p:cNvPr id="18" name="Text 16"/>
          <p:cNvSpPr/>
          <p:nvPr/>
        </p:nvSpPr>
        <p:spPr>
          <a:xfrm>
            <a:off x="640080" y="5257800"/>
            <a:ext cx="10972800" cy="4114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Remaining work: a policy-level fix for foreign-worker fairness · production logging &amp; monitoring.</a:t>
            </a:r>
            <a:endParaRPr lang="en-US" sz="1400" dirty="0"/>
          </a:p>
        </p:txBody>
      </p:sp>
      <p:sp>
        <p:nvSpPr>
          <p:cNvPr id="19" name="Text 17"/>
          <p:cNvSpPr/>
          <p:nvPr/>
        </p:nvSpPr>
        <p:spPr>
          <a:xfrm>
            <a:off x="640080" y="5897880"/>
            <a:ext cx="109728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Thank you  ·  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2026-07-21T12:56:01Z</dcterms:created>
  <dcterms:modified xsi:type="dcterms:W3CDTF">2026-07-21T12:56:01Z</dcterms:modified>
</cp:coreProperties>
</file>